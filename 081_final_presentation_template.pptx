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108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Click to move the slide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249228-C0DE-4391-943D-3D074EA8229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245E1-F1FF-4DFD-ABF2-42FDCC79BA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AB47E2-AA5C-48FA-9A26-123185E1F2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2AED4D-B958-4EFE-A46F-D1EB05B4BA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63F5C4-CF44-4D9C-BA9A-E211A1ACD2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502920" y="749520"/>
            <a:ext cx="11109960" cy="360"/>
          </a:xfrm>
          <a:prstGeom prst="line">
            <a:avLst/>
          </a:prstGeom>
          <a:ln w="19050">
            <a:solidFill>
              <a:srgbClr val="173A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1"/>
          <p:cNvSpPr/>
          <p:nvPr/>
        </p:nvSpPr>
        <p:spPr>
          <a:xfrm>
            <a:off x="502920" y="651060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5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65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8</a:t>
            </a:r>
            <a:r>
              <a:rPr lang="zh-CN" sz="65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回 メカトロニクス実習｜納品プレゼン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567160" y="6492240"/>
            <a:ext cx="18252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66567-07E0-47B5-BF88-7AD69CB4FCEC}" type="slidenum">
              <a: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‹#›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Click to edit the title text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30280" y="255960"/>
            <a:ext cx="6126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完成した検査システム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30280" y="84132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グループ名：［　　　　　　　　　］　　発表者：［　　　　　　　　　］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530280" y="1134000"/>
            <a:ext cx="11063880" cy="420120"/>
          </a:xfrm>
          <a:prstGeom prst="roundRect">
            <a:avLst>
              <a:gd name="adj" fmla="val 26087"/>
            </a:avLst>
          </a:prstGeom>
          <a:solidFill>
            <a:srgbClr val="E8F2FA"/>
          </a:solidFill>
          <a:ln w="12700">
            <a:solidFill>
              <a:srgbClr val="CFDCE6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13160" y="1188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検査対象：第</a:t>
            </a:r>
            <a:r>
              <a:rPr lang="en-US" sz="115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zh-CN" sz="115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ステーション通過後の完成ワーク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594360" y="1856160"/>
            <a:ext cx="1416960" cy="566640"/>
          </a:xfrm>
          <a:prstGeom prst="roundRect">
            <a:avLst>
              <a:gd name="adj" fmla="val 19355"/>
            </a:avLst>
          </a:prstGeom>
          <a:solidFill>
            <a:srgbClr val="E8F2FA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31080" y="1883520"/>
            <a:ext cx="134388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3ST </a:t>
            </a:r>
            <a:r>
              <a:rPr lang="zh-CN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通過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完成ワーク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2331720" y="1856160"/>
            <a:ext cx="1325520" cy="566640"/>
          </a:xfrm>
          <a:prstGeom prst="roundRect">
            <a:avLst>
              <a:gd name="adj" fmla="val 19355"/>
            </a:avLst>
          </a:prstGeom>
          <a:solidFill>
            <a:srgbClr val="E8F2FA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2368440" y="1883520"/>
            <a:ext cx="1252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IR </a:t>
            </a:r>
            <a:r>
              <a:rPr lang="zh-CN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センサ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4041720" y="1856160"/>
            <a:ext cx="1325520" cy="566640"/>
          </a:xfrm>
          <a:prstGeom prst="roundRect">
            <a:avLst>
              <a:gd name="adj" fmla="val 19355"/>
            </a:avLst>
          </a:prstGeom>
          <a:solidFill>
            <a:srgbClr val="E8F2FA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078080" y="1883520"/>
            <a:ext cx="1252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M5StickC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PLUS2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5806440" y="1856160"/>
            <a:ext cx="1325520" cy="566640"/>
          </a:xfrm>
          <a:prstGeom prst="roundRect">
            <a:avLst>
              <a:gd name="adj" fmla="val 19355"/>
            </a:avLst>
          </a:prstGeom>
          <a:solidFill>
            <a:srgbClr val="E8F2FA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5843160" y="1883520"/>
            <a:ext cx="1252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OK / NG 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RETRY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7543800" y="1856160"/>
            <a:ext cx="1325520" cy="566640"/>
          </a:xfrm>
          <a:prstGeom prst="roundRect">
            <a:avLst>
              <a:gd name="adj" fmla="val 19355"/>
            </a:avLst>
          </a:prstGeom>
          <a:solidFill>
            <a:srgbClr val="E8F2FA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7580520" y="1883520"/>
            <a:ext cx="1252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Relay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9253800" y="1856160"/>
            <a:ext cx="1416960" cy="566640"/>
          </a:xfrm>
          <a:prstGeom prst="roundRect">
            <a:avLst>
              <a:gd name="adj" fmla="val 19355"/>
            </a:avLst>
          </a:prstGeom>
          <a:solidFill>
            <a:srgbClr val="E8F2FA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9290160" y="1883520"/>
            <a:ext cx="134388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PLC 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FA </a:t>
            </a:r>
            <a:r>
              <a:rPr lang="zh-CN" sz="10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設備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2011680" y="2139480"/>
            <a:ext cx="274320" cy="360"/>
          </a:xfrm>
          <a:prstGeom prst="line">
            <a:avLst/>
          </a:prstGeom>
          <a:ln w="15240">
            <a:solidFill>
              <a:srgbClr val="173A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3657600" y="2139480"/>
            <a:ext cx="338040" cy="360"/>
          </a:xfrm>
          <a:prstGeom prst="line">
            <a:avLst/>
          </a:prstGeom>
          <a:ln w="15240">
            <a:solidFill>
              <a:srgbClr val="173A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8"/>
          <p:cNvSpPr/>
          <p:nvPr/>
        </p:nvSpPr>
        <p:spPr>
          <a:xfrm>
            <a:off x="5367240" y="2139480"/>
            <a:ext cx="393480" cy="360"/>
          </a:xfrm>
          <a:prstGeom prst="line">
            <a:avLst/>
          </a:prstGeom>
          <a:ln w="15240">
            <a:solidFill>
              <a:srgbClr val="173A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7132320" y="2139480"/>
            <a:ext cx="365760" cy="360"/>
          </a:xfrm>
          <a:prstGeom prst="line">
            <a:avLst/>
          </a:prstGeom>
          <a:ln w="15240">
            <a:solidFill>
              <a:srgbClr val="173A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8869680" y="2139480"/>
            <a:ext cx="338040" cy="360"/>
          </a:xfrm>
          <a:prstGeom prst="line">
            <a:avLst/>
          </a:prstGeom>
          <a:ln w="15240">
            <a:solidFill>
              <a:srgbClr val="173A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3876431" y="2697480"/>
            <a:ext cx="1520092" cy="65808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AEC1D1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2"/>
          <p:cNvSpPr/>
          <p:nvPr/>
        </p:nvSpPr>
        <p:spPr>
          <a:xfrm>
            <a:off x="3966308" y="2724840"/>
            <a:ext cx="1301261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HUSKYLENS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推定</a:t>
            </a:r>
            <a:r>
              <a:rPr lang="en-US" sz="1050" b="1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3"/>
          <p:cNvSpPr/>
          <p:nvPr/>
        </p:nvSpPr>
        <p:spPr>
          <a:xfrm flipV="1">
            <a:off x="4612250" y="2436068"/>
            <a:ext cx="182880" cy="255960"/>
          </a:xfrm>
          <a:prstGeom prst="line">
            <a:avLst/>
          </a:prstGeom>
          <a:ln w="15240">
            <a:solidFill>
              <a:srgbClr val="173A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594360" y="3584520"/>
            <a:ext cx="5668920" cy="2843634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B7C1C9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795600" y="3895200"/>
            <a:ext cx="5266440" cy="2435262"/>
          </a:xfrm>
          <a:prstGeom prst="rect">
            <a:avLst/>
          </a:prstGeom>
          <a:noFill/>
          <a:ln w="12700">
            <a:solidFill>
              <a:srgbClr val="C3CC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6"/>
          <p:cNvSpPr/>
          <p:nvPr/>
        </p:nvSpPr>
        <p:spPr>
          <a:xfrm>
            <a:off x="850320" y="4096440"/>
            <a:ext cx="5157000" cy="2226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7C8790"/>
                </a:solidFill>
                <a:effectLst/>
                <a:uFillTx/>
                <a:latin typeface="Noto Sans CJK JP"/>
                <a:ea typeface="Noto Sans CJK JP"/>
              </a:rPr>
              <a:t>実機写真を貼る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7C8790"/>
                </a:solidFill>
                <a:effectLst/>
                <a:uFillTx/>
                <a:latin typeface="Noto Sans CJK JP"/>
                <a:ea typeface="Noto Sans CJK JP"/>
              </a:rPr>
              <a:t>（センサ・カメラ・ワーク位置が分かる写真）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876111" y="3622828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完成状態の要点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372019" y="2901058"/>
            <a:ext cx="3285582" cy="6959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・検査位置：［</a:t>
            </a:r>
            <a:r>
              <a:rPr lang="ja-JP" altLang="en-US" sz="950" dirty="0">
                <a:solidFill>
                  <a:srgbClr val="243746"/>
                </a:solidFill>
                <a:latin typeface="Noto Sans CJK JP"/>
                <a:ea typeface="Noto Sans CJK JP"/>
              </a:rPr>
              <a:t> 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例</a:t>
            </a:r>
            <a:r>
              <a:rPr lang="en-US" altLang="ja-JP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: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第３</a:t>
            </a:r>
            <a:r>
              <a:rPr lang="en-US" altLang="ja-JP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ST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通過後</a:t>
            </a:r>
            <a:r>
              <a:rPr lang="zh-CN" sz="95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Noto Sans CJK JP"/>
                <a:ea typeface="Noto Sans CJK JP"/>
              </a:rPr>
              <a:t>　　　　　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］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IR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センサ</a:t>
            </a:r>
            <a:r>
              <a:rPr lang="ja-JP" altLang="en-US" sz="950" dirty="0">
                <a:solidFill>
                  <a:srgbClr val="243746"/>
                </a:solidFill>
                <a:latin typeface="Noto Sans CJK JP"/>
                <a:ea typeface="Noto Sans CJK JP"/>
              </a:rPr>
              <a:t>位置・向き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：［</a:t>
            </a:r>
            <a:r>
              <a:rPr lang="ja-JP" altLang="en-US" sz="950" dirty="0">
                <a:solidFill>
                  <a:srgbClr val="243746"/>
                </a:solidFill>
                <a:latin typeface="Noto Sans CJK JP"/>
                <a:ea typeface="Noto Sans CJK JP"/>
              </a:rPr>
              <a:t> 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例</a:t>
            </a:r>
            <a:r>
              <a:rPr lang="en-US" altLang="ja-JP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: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アルミベース側面・ほぼ直角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］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HUSKYLENS</a:t>
            </a:r>
            <a:r>
              <a:rPr lang="ja-JP" altLang="en-US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位置・向き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：［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例</a:t>
            </a:r>
            <a:r>
              <a:rPr lang="en-US" altLang="ja-JP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:</a:t>
            </a:r>
            <a:r>
              <a:rPr lang="ja-JP" alt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rPr>
              <a:t> 斜め上から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］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PLC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連携：［ </a:t>
            </a:r>
            <a:r>
              <a:rPr lang="zh-CN" sz="95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Noto Sans CJK JP"/>
                <a:ea typeface="Noto Sans CJK JP"/>
              </a:rPr>
              <a:t>有 </a:t>
            </a:r>
            <a:r>
              <a:rPr lang="en-US" sz="95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zh-CN" sz="95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Noto Sans CJK JP"/>
                <a:ea typeface="Noto Sans CJK JP"/>
              </a:rPr>
              <a:t>無 </a:t>
            </a:r>
            <a:r>
              <a:rPr lang="zh-CN" sz="95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］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6537960" y="3575160"/>
            <a:ext cx="5309868" cy="1051200"/>
          </a:xfrm>
          <a:prstGeom prst="roundRect">
            <a:avLst>
              <a:gd name="adj" fmla="val 10435"/>
            </a:avLst>
          </a:prstGeom>
          <a:solidFill>
            <a:srgbClr val="E5F2E8"/>
          </a:solidFill>
          <a:ln w="12700">
            <a:solidFill>
              <a:srgbClr val="BDD5C3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6720840" y="3712320"/>
            <a:ext cx="1092882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製品仕様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7696591" y="3755292"/>
            <a:ext cx="4022578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OK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：青・青・青 ／ 黄・黄・黄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NG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：上記以外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用語：正解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＝実物　／　推定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＝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HUSKYLENS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の出力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6510607" y="4778338"/>
            <a:ext cx="5309868" cy="1008954"/>
          </a:xfrm>
          <a:prstGeom prst="roundRect">
            <a:avLst>
              <a:gd name="adj" fmla="val 13953"/>
            </a:avLst>
          </a:prstGeom>
          <a:solidFill>
            <a:srgbClr val="E8F2FA"/>
          </a:solidFill>
          <a:ln w="12700">
            <a:solidFill>
              <a:srgbClr val="BDD0DF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6720840" y="4956120"/>
            <a:ext cx="2290298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この設備の一連動作を</a:t>
            </a:r>
            <a:r>
              <a:rPr lang="en-US" sz="120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r>
              <a:rPr lang="zh-CN" sz="120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文で説明：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6654800" y="5131594"/>
            <a:ext cx="5041515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　　　　　　　　　　　　　　　　　　　　　　　　　　　　］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　　　　　　　　　　　　　　　　　　　　　　　　　　　　］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sldNum" idx="5"/>
          </p:nvPr>
        </p:nvSpPr>
        <p:spPr>
          <a:xfrm>
            <a:off x="11567160" y="6492240"/>
            <a:ext cx="18252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06581-FF15-43D1-919C-96A6F39DE89F}" type="slidenum">
              <a: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30280" y="255960"/>
            <a:ext cx="6126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最終検収結果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30280" y="82296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数値で「推定</a:t>
            </a:r>
            <a:r>
              <a:rPr lang="en-US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r>
              <a:rPr lang="zh-CN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は合ったか」「</a:t>
            </a:r>
            <a:r>
              <a:rPr lang="en-US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OK / NG</a:t>
            </a:r>
            <a:r>
              <a:rPr lang="zh-CN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判定は合ったか」を説明する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94360" y="1170360"/>
            <a:ext cx="1782720" cy="950760"/>
          </a:xfrm>
          <a:prstGeom prst="roundRect">
            <a:avLst>
              <a:gd name="adj" fmla="val 11538"/>
            </a:avLst>
          </a:prstGeom>
          <a:solidFill>
            <a:srgbClr val="E8F2FA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67440" y="1271160"/>
            <a:ext cx="1636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試行回数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667440" y="1609200"/>
            <a:ext cx="1636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］回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2853000" y="1170360"/>
            <a:ext cx="1782720" cy="950760"/>
          </a:xfrm>
          <a:prstGeom prst="roundRect">
            <a:avLst>
              <a:gd name="adj" fmla="val 11538"/>
            </a:avLst>
          </a:prstGeom>
          <a:solidFill>
            <a:srgbClr val="E8F2FA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2926080" y="1271160"/>
            <a:ext cx="1636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推定</a:t>
            </a:r>
            <a:r>
              <a:rPr lang="en-US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ID </a:t>
            </a: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一致率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2926080" y="1609200"/>
            <a:ext cx="1636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］</a:t>
            </a:r>
            <a:r>
              <a:rPr lang="en-US" sz="19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%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285160" y="1170360"/>
            <a:ext cx="1782720" cy="950760"/>
          </a:xfrm>
          <a:prstGeom prst="roundRect">
            <a:avLst>
              <a:gd name="adj" fmla="val 11538"/>
            </a:avLst>
          </a:prstGeom>
          <a:solidFill>
            <a:srgbClr val="E5F2E8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5358240" y="1271160"/>
            <a:ext cx="1636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OK / NG </a:t>
            </a: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判定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正答率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5358240" y="1609200"/>
            <a:ext cx="1636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］</a:t>
            </a:r>
            <a:r>
              <a:rPr lang="en-US" sz="19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%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7662600" y="1170360"/>
            <a:ext cx="1782720" cy="950760"/>
          </a:xfrm>
          <a:prstGeom prst="roundRect">
            <a:avLst>
              <a:gd name="adj" fmla="val 11538"/>
            </a:avLst>
          </a:prstGeom>
          <a:solidFill>
            <a:srgbClr val="F8E7E9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7735680" y="1271160"/>
            <a:ext cx="1636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見逃し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（</a:t>
            </a:r>
            <a:r>
              <a:rPr lang="en-US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NG → OK</a:t>
            </a:r>
            <a:r>
              <a:rPr lang="zh-CN" sz="82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）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7735680" y="1609200"/>
            <a:ext cx="1636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］回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" name="Table 0"/>
          <p:cNvGraphicFramePr/>
          <p:nvPr/>
        </p:nvGraphicFramePr>
        <p:xfrm>
          <a:off x="594360" y="2423160"/>
          <a:ext cx="6720840" cy="20296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正解</a:t>
                      </a: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ID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試行数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推定</a:t>
                      </a: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ID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一致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OK / 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判定正解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気づき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ID1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　　　　　　　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ID2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　　　　　　　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ID3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　　　　　　　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ID4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900" b="0" u="none" strike="noStrike">
                          <a:solidFill>
                            <a:srgbClr val="243746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［　　　　　　　　　］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>
                    <a:lnL w="9360">
                      <a:solidFill>
                        <a:srgbClr val="A9B8C4"/>
                      </a:solidFill>
                      <a:prstDash val="solid"/>
                    </a:lnL>
                    <a:lnR w="9360">
                      <a:solidFill>
                        <a:srgbClr val="A9B8C4"/>
                      </a:solidFill>
                      <a:prstDash val="solid"/>
                    </a:lnR>
                    <a:lnT w="9360">
                      <a:solidFill>
                        <a:srgbClr val="A9B8C4"/>
                      </a:solidFill>
                      <a:prstDash val="solid"/>
                    </a:lnT>
                    <a:lnB w="9360">
                      <a:solidFill>
                        <a:srgbClr val="A9B8C4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Shape 14"/>
          <p:cNvSpPr/>
          <p:nvPr/>
        </p:nvSpPr>
        <p:spPr>
          <a:xfrm>
            <a:off x="594360" y="2423160"/>
            <a:ext cx="6720480" cy="383760"/>
          </a:xfrm>
          <a:prstGeom prst="rect">
            <a:avLst/>
          </a:prstGeom>
          <a:solidFill>
            <a:srgbClr val="173A59"/>
          </a:solidFill>
          <a:ln w="12700">
            <a:solidFill>
              <a:srgbClr val="173A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594360" y="2441520"/>
            <a:ext cx="776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正解</a:t>
            </a:r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1371600" y="2441520"/>
            <a:ext cx="868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試行数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2240280" y="2441520"/>
            <a:ext cx="1142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推定</a:t>
            </a:r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一致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3383280" y="244152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OK / NG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判定正解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4709160" y="244152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気づき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0"/>
          <p:cNvSpPr/>
          <p:nvPr/>
        </p:nvSpPr>
        <p:spPr>
          <a:xfrm>
            <a:off x="7635240" y="2432160"/>
            <a:ext cx="3885840" cy="1992960"/>
          </a:xfrm>
          <a:prstGeom prst="roundRect">
            <a:avLst>
              <a:gd name="adj" fmla="val 5505"/>
            </a:avLst>
          </a:prstGeom>
          <a:solidFill>
            <a:srgbClr val="FFF3D6"/>
          </a:solidFill>
          <a:ln w="12700">
            <a:solidFill>
              <a:srgbClr val="DEC589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7845480" y="26150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説明するとき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7845480" y="2953440"/>
            <a:ext cx="34286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・コンベア速度には追従できたか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・どの正解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で推定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ID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がずれたか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OK / NG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判定は正しかったか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・見逃し（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NG→OK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）はあったか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PLC / FA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設備側出力まで正しく動いたか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594360" y="480060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最も注意すべき見逃し／誤判定：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4"/>
          <p:cNvSpPr/>
          <p:nvPr/>
        </p:nvSpPr>
        <p:spPr>
          <a:xfrm>
            <a:off x="2761560" y="4663440"/>
            <a:ext cx="8732160" cy="5850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8C2CA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6"/>
          </p:nvPr>
        </p:nvSpPr>
        <p:spPr>
          <a:xfrm>
            <a:off x="11567160" y="6492240"/>
            <a:ext cx="18252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471117-82D6-4A96-93E1-9185343B77B7}" type="slidenum">
              <a: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30280" y="255960"/>
            <a:ext cx="6126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工夫・変更したところ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30280" y="82296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「現在仕様 → 問題点・変更理由 → 変更後の結果」の順で説明する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94360" y="1298520"/>
            <a:ext cx="2880000" cy="2157480"/>
          </a:xfrm>
          <a:prstGeom prst="roundRect">
            <a:avLst>
              <a:gd name="adj" fmla="val 5085"/>
            </a:avLst>
          </a:prstGeom>
          <a:solidFill>
            <a:srgbClr val="E8F2FA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758880" y="1508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現在仕様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822960" y="2057400"/>
            <a:ext cx="2422800" cy="96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・例：</a:t>
            </a:r>
            <a:r>
              <a:rPr lang="en-US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IR</a:t>
            </a: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センサを真鍮ベースへ正対</a:t>
            </a: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］</a:t>
            </a: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］</a:t>
            </a: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3977640" y="1298520"/>
            <a:ext cx="2880000" cy="2157480"/>
          </a:xfrm>
          <a:prstGeom prst="roundRect">
            <a:avLst>
              <a:gd name="adj" fmla="val 5085"/>
            </a:avLst>
          </a:prstGeom>
          <a:solidFill>
            <a:srgbClr val="FFF3D6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142160" y="1508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問題点・変更理由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4206240" y="2057400"/>
            <a:ext cx="2422800" cy="96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・例：斜めでは検出が揺れた</a:t>
            </a: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］</a:t>
            </a: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］</a:t>
            </a: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7360920" y="1298520"/>
            <a:ext cx="2880000" cy="2157480"/>
          </a:xfrm>
          <a:prstGeom prst="roundRect">
            <a:avLst>
              <a:gd name="adj" fmla="val 5085"/>
            </a:avLst>
          </a:prstGeom>
          <a:solidFill>
            <a:srgbClr val="E5F2E8"/>
          </a:solidFill>
          <a:ln w="12700">
            <a:solidFill>
              <a:srgbClr val="AAB7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7525440" y="1508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変更後の結果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7589520" y="2057400"/>
            <a:ext cx="2422800" cy="96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・例：検出が安定した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］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］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594360" y="3767399"/>
            <a:ext cx="3245760" cy="2668569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B7C1C9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795600" y="4078080"/>
            <a:ext cx="2843280" cy="822600"/>
          </a:xfrm>
          <a:prstGeom prst="rect">
            <a:avLst/>
          </a:prstGeom>
          <a:noFill/>
          <a:ln w="12700">
            <a:solidFill>
              <a:srgbClr val="C3CC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850320" y="4279320"/>
            <a:ext cx="2733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7C8790"/>
                </a:solidFill>
                <a:effectLst/>
                <a:uFillTx/>
                <a:latin typeface="Noto Sans CJK JP"/>
                <a:ea typeface="Noto Sans CJK JP"/>
              </a:rPr>
              <a:t>設置前 </a:t>
            </a:r>
            <a:r>
              <a:rPr lang="en-US" sz="950" b="0" u="none" strike="noStrike">
                <a:solidFill>
                  <a:srgbClr val="7C8790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zh-CN" sz="950" b="0" u="none" strike="noStrike">
                <a:solidFill>
                  <a:srgbClr val="7C8790"/>
                </a:solidFill>
                <a:effectLst/>
                <a:uFillTx/>
                <a:latin typeface="Noto Sans CJK JP"/>
                <a:ea typeface="Noto Sans CJK JP"/>
              </a:rPr>
              <a:t>設置後などの写真・図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4037812" y="3783030"/>
            <a:ext cx="3126960" cy="2645124"/>
          </a:xfrm>
          <a:prstGeom prst="roundRect">
            <a:avLst>
              <a:gd name="adj" fmla="val 7595"/>
            </a:avLst>
          </a:prstGeom>
          <a:solidFill>
            <a:srgbClr val="E8F2FA"/>
          </a:solidFill>
          <a:ln w="12700">
            <a:solidFill>
              <a:srgbClr val="B8CDE0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4251960" y="396864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PLC</a:t>
            </a:r>
            <a:r>
              <a:rPr lang="zh-CN" sz="100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連携した場合：実使用 </a:t>
            </a:r>
            <a:r>
              <a:rPr lang="en-US" sz="1000" b="1" u="none" strike="noStrike" dirty="0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I/O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251960" y="4325040"/>
            <a:ext cx="2789702" cy="1899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ステーション：</a:t>
            </a:r>
            <a:r>
              <a:rPr lang="ja-JP" alt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　</a:t>
            </a:r>
            <a:r>
              <a:rPr lang="en-US" altLang="ja-JP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[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　　　］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PLC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入力：</a:t>
            </a:r>
            <a:r>
              <a:rPr lang="ja-JP" alt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　　</a:t>
            </a: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X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　　　］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dirty="0">
              <a:solidFill>
                <a:srgbClr val="243746"/>
              </a:solidFill>
              <a:latin typeface="Noto Sans CJK JP"/>
              <a:ea typeface="Noto Sans CJK JP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※ X00</a:t>
            </a:r>
            <a:r>
              <a:rPr lang="zh-CN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使用時は既存センサとの共有</a:t>
            </a:r>
            <a:r>
              <a:rPr lang="ja-JP" altLang="en-US" sz="120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について説明する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7369920" y="3767399"/>
            <a:ext cx="3803400" cy="2676385"/>
          </a:xfrm>
          <a:prstGeom prst="roundRect">
            <a:avLst>
              <a:gd name="adj" fmla="val 7595"/>
            </a:avLst>
          </a:prstGeom>
          <a:solidFill>
            <a:srgbClr val="F5F7F9"/>
          </a:solidFill>
          <a:ln w="12700">
            <a:solidFill>
              <a:srgbClr val="C7D0D7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7635240" y="39776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候補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7635240" y="4343400"/>
            <a:ext cx="32457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センサ位置／カメラ位置／ジグ／背景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学習状態／タイミング／プログラム／</a:t>
            </a:r>
            <a:r>
              <a:rPr lang="en-US" sz="93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PLC</a:t>
            </a:r>
            <a:r>
              <a:rPr lang="zh-CN" sz="930" b="0" u="none" strike="noStrike" dirty="0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連携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7635240" y="488304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※ 結果に効いたものを2</a:t>
            </a:r>
            <a:r>
              <a:rPr lang="zh-CN" sz="82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～</a:t>
            </a:r>
            <a:r>
              <a:rPr lang="en-US" sz="82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zh-CN" sz="82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点選ぶ。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7"/>
          </p:nvPr>
        </p:nvSpPr>
        <p:spPr>
          <a:xfrm>
            <a:off x="11567160" y="6492240"/>
            <a:ext cx="18252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A2F145-330E-4BE2-90B1-AFAF5C685312}" type="slidenum">
              <a: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30280" y="255960"/>
            <a:ext cx="6126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残課題と納品判断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30280" y="82296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良い点だけでなく、設備の限界と条件も説明する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594360" y="1307520"/>
            <a:ext cx="5120280" cy="1938240"/>
          </a:xfrm>
          <a:prstGeom prst="roundRect">
            <a:avLst>
              <a:gd name="adj" fmla="val 5660"/>
            </a:avLst>
          </a:prstGeom>
          <a:solidFill>
            <a:srgbClr val="E5F2E8"/>
          </a:solidFill>
          <a:ln w="12700">
            <a:solidFill>
              <a:srgbClr val="BDD5C3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868680" y="15361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現在の設備でできること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914400" y="2057400"/>
            <a:ext cx="4388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　　　　　　　　　　　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　　　　　　　　　　　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　　　　　　　　　　　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6172200" y="1307520"/>
            <a:ext cx="5120280" cy="1938240"/>
          </a:xfrm>
          <a:prstGeom prst="roundRect">
            <a:avLst>
              <a:gd name="adj" fmla="val 5660"/>
            </a:avLst>
          </a:prstGeom>
          <a:solidFill>
            <a:srgbClr val="F8E7E9"/>
          </a:solidFill>
          <a:ln w="12700">
            <a:solidFill>
              <a:srgbClr val="DABEC2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446520" y="15361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まだ残っている課題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6473880" y="2057400"/>
            <a:ext cx="4388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　　　　　　　　　　　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　　　　　　　　　　　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・［　　　　　　　　　　　　　　　　　　　　　　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594360" y="3611880"/>
            <a:ext cx="10698120" cy="658080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 w="12700">
            <a:solidFill>
              <a:srgbClr val="AFC4D5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841320" y="3794760"/>
            <a:ext cx="1019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4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この設備を納品できるか？　　□ 納品できる　　□ 条件付きで納品できる　　□ まだ納品できない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94360" y="455364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判断した理由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1828800" y="4416480"/>
            <a:ext cx="94636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7C1C9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1993320" y="4608720"/>
            <a:ext cx="9097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1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 最終試験の数値と残課題を使って説明する　　　　　　　　　　　　　　　　　　　　　　　　　　　　　　］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94360" y="542232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173A59"/>
                </a:solidFill>
                <a:effectLst/>
                <a:uFillTx/>
                <a:latin typeface="Noto Sans CJK JP"/>
                <a:ea typeface="Noto Sans CJK JP"/>
              </a:rPr>
              <a:t>納品条件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4"/>
          <p:cNvSpPr/>
          <p:nvPr/>
        </p:nvSpPr>
        <p:spPr>
          <a:xfrm>
            <a:off x="1828800" y="5285160"/>
            <a:ext cx="94636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7C1C9"/>
            </a:solidFill>
            <a:round/>
          </a:ln>
          <a:effectLst>
            <a:outerShdw blurRad="19080" dist="50402" dir="2700000" algn="bl" rotWithShape="0">
              <a:srgbClr val="B8C0C8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1993320" y="5477400"/>
            <a:ext cx="9097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10" b="0" u="none" strike="noStrik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［ 条件付きの場合：使用条件・制約・今後必要な改善を記入　　　　　　　　　　　　　　　　　　　　　　　　］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10378440" y="61905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発表時間：</a:t>
            </a:r>
            <a:r>
              <a:rPr lang="en-US" sz="75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5</a:t>
            </a:r>
            <a:r>
              <a:rPr lang="zh-CN" sz="750" b="0" u="none" strike="noStrike">
                <a:solidFill>
                  <a:srgbClr val="687783"/>
                </a:solidFill>
                <a:effectLst/>
                <a:uFillTx/>
                <a:latin typeface="Noto Sans CJK JP"/>
                <a:ea typeface="Noto Sans CJK JP"/>
              </a:rPr>
              <a:t>分程度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8"/>
          </p:nvPr>
        </p:nvSpPr>
        <p:spPr>
          <a:xfrm>
            <a:off x="11567160" y="6492240"/>
            <a:ext cx="18252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6E708C-FEE8-48C3-BF7A-4620084EA5CA}" type="slidenum">
              <a:rPr lang="en-US" sz="700" b="0" u="none" strike="noStrike">
                <a:solidFill>
                  <a:srgbClr val="7E8B95"/>
                </a:solidFill>
                <a:effectLst/>
                <a:uFillTx/>
                <a:latin typeface="Noto Sans CJK JP"/>
                <a:ea typeface="Noto Sans CJK JP"/>
              </a:rPr>
              <a:t>4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</a:majorFont>
      <a:minorFont>
        <a:latin typeface="Noto Sans CJK JP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588</Words>
  <Application>Microsoft Office PowerPoint</Application>
  <PresentationFormat>ワイド画面</PresentationFormat>
  <Paragraphs>131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Noto Sans CJK JP</vt:lpstr>
      <vt:lpstr>Arial</vt:lpstr>
      <vt:lpstr>Symbol</vt:lpstr>
      <vt:lpstr>Times New Roman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広島県立技術短期大学校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久保田 貴也</cp:lastModifiedBy>
  <cp:revision>2</cp:revision>
  <dcterms:modified xsi:type="dcterms:W3CDTF">2026-09-23T15:01:52Z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2026-09-23T13:06:43Z</dcterms:created>
  <dc:creator>OpenAI</dc:creator>
  <dc:description/>
  <dc:language>en-US</dc:language>
  <cp:lastModifiedBy>OpenAI</cp:lastModifiedBy>
  <dcterms:modified xsi:type="dcterms:W3CDTF">2026-09-23T13:06:43Z</dcterms:modified>
  <cp:revision>1</cp:revision>
  <dc:subject>第8回 メカトロニクス実習｜納品プレゼン</dc:subject>
  <dc:title>081_final_presentation_template_updated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