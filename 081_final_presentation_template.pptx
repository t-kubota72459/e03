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2471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D5C"/>
                </a:solidFill>
                <a:latin typeface="Noto Sans CJK JP"/>
              </a:rPr>
              <a:t>完成した検査システム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58368"/>
            <a:ext cx="11338560" cy="41148"/>
          </a:xfrm>
          <a:prstGeom prst="rect">
            <a:avLst/>
          </a:prstGeom>
          <a:solidFill>
            <a:srgbClr val="1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731520"/>
            <a:ext cx="111556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9717A"/>
                </a:solidFill>
                <a:latin typeface="Noto Sans CJK JP"/>
              </a:rPr>
              <a:t>グループ名：［　　　　　　　　　］　　発表者：［　　　　　　　　　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01400" cy="384048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EB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06424"/>
            <a:ext cx="11201400" cy="36575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F3D5C"/>
                </a:solidFill>
                <a:latin typeface="Noto Sans CJK JP"/>
              </a:rPr>
              <a:t>検査対象：第3ステーション通過後の完成ワーク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417320" cy="658368"/>
          </a:xfrm>
          <a:prstGeom prst="roundRect">
            <a:avLst/>
          </a:prstGeom>
          <a:solidFill>
            <a:srgbClr val="DDEAF7"/>
          </a:solidFill>
          <a:ln w="12700">
            <a:solidFill>
              <a:srgbClr val="9BB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41732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F3D5C"/>
                </a:solidFill>
                <a:latin typeface="Noto Sans CJK JP"/>
              </a:rPr>
              <a:t>第3ST通過
完成ワーク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691640"/>
            <a:ext cx="1143000" cy="658368"/>
          </a:xfrm>
          <a:prstGeom prst="roundRect">
            <a:avLst/>
          </a:prstGeom>
          <a:solidFill>
            <a:srgbClr val="DDEAF7"/>
          </a:solidFill>
          <a:ln w="12700">
            <a:solidFill>
              <a:srgbClr val="9BB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691640"/>
            <a:ext cx="114300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F3D5C"/>
                </a:solidFill>
                <a:latin typeface="Noto Sans CJK JP"/>
              </a:rPr>
              <a:t>IRセンサ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691640"/>
            <a:ext cx="1143000" cy="658368"/>
          </a:xfrm>
          <a:prstGeom prst="roundRect">
            <a:avLst/>
          </a:prstGeom>
          <a:solidFill>
            <a:srgbClr val="DDEAF7"/>
          </a:solidFill>
          <a:ln w="12700">
            <a:solidFill>
              <a:srgbClr val="9BB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91640"/>
            <a:ext cx="114300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F3D5C"/>
                </a:solidFill>
                <a:latin typeface="Noto Sans CJK JP"/>
              </a:rPr>
              <a:t>M5StickC
PLUS2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1691640"/>
            <a:ext cx="1234440" cy="658368"/>
          </a:xfrm>
          <a:prstGeom prst="roundRect">
            <a:avLst/>
          </a:prstGeom>
          <a:solidFill>
            <a:srgbClr val="DDEAF7"/>
          </a:solidFill>
          <a:ln w="12700">
            <a:solidFill>
              <a:srgbClr val="9BB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691640"/>
            <a:ext cx="123444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F3D5C"/>
                </a:solidFill>
                <a:latin typeface="Noto Sans CJK JP"/>
              </a:rPr>
              <a:t>OK / NG /
RETRY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691640"/>
            <a:ext cx="960120" cy="658368"/>
          </a:xfrm>
          <a:prstGeom prst="roundRect">
            <a:avLst/>
          </a:prstGeom>
          <a:solidFill>
            <a:srgbClr val="DDEAF7"/>
          </a:solidFill>
          <a:ln w="12700">
            <a:solidFill>
              <a:srgbClr val="9BB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691640"/>
            <a:ext cx="96012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F3D5C"/>
                </a:solidFill>
                <a:latin typeface="Noto Sans CJK JP"/>
              </a:rPr>
              <a:t>Relay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691640"/>
            <a:ext cx="1143000" cy="658368"/>
          </a:xfrm>
          <a:prstGeom prst="roundRect">
            <a:avLst/>
          </a:prstGeom>
          <a:solidFill>
            <a:srgbClr val="DDEAF7"/>
          </a:solidFill>
          <a:ln w="12700">
            <a:solidFill>
              <a:srgbClr val="9BB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1691640"/>
            <a:ext cx="114300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1F3D5C"/>
                </a:solidFill>
                <a:latin typeface="Noto Sans CJK JP"/>
              </a:rPr>
              <a:t>PLC /
FA設備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2560320"/>
            <a:ext cx="1234440" cy="594360"/>
          </a:xfrm>
          <a:prstGeom prst="roundRect">
            <a:avLst/>
          </a:prstGeom>
          <a:solidFill>
            <a:srgbClr val="FCF1D8"/>
          </a:solidFill>
          <a:ln w="12700">
            <a:solidFill>
              <a:srgbClr val="D6B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1234440" cy="5943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1F3D5C"/>
                </a:solidFill>
                <a:latin typeface="Noto Sans CJK JP"/>
              </a:rPr>
              <a:t>HUSKYLENS
Class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18288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3D5C"/>
                </a:solidFill>
                <a:latin typeface="Noto Sans CJK JP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8288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3D5C"/>
                </a:solidFill>
                <a:latin typeface="Noto Sans CJK JP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18288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3D5C"/>
                </a:solidFill>
                <a:latin typeface="Noto Sans CJK JP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8288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3D5C"/>
                </a:solidFill>
                <a:latin typeface="Noto Sans CJK JP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1828800"/>
            <a:ext cx="228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3D5C"/>
                </a:solidFill>
                <a:latin typeface="Noto Sans CJK JP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331720"/>
            <a:ext cx="411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1F3D5C"/>
                </a:solidFill>
                <a:latin typeface="Noto Sans CJK JP"/>
              </a:rPr>
              <a:t>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383280"/>
            <a:ext cx="58064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8" y="3657600"/>
            <a:ext cx="3291840" cy="1737360"/>
          </a:xfrm>
          <a:prstGeom prst="rect">
            <a:avLst/>
          </a:prstGeom>
          <a:solidFill>
            <a:srgbClr val="F5F7F9"/>
          </a:solidFill>
          <a:ln>
            <a:solidFill>
              <a:srgbClr val="B8C1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4224528"/>
            <a:ext cx="32918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9717A"/>
                </a:solidFill>
                <a:latin typeface="Noto Sans CJK JP"/>
              </a:rPr>
              <a:t>実機写真を貼る
（センサ・カメラ・ワーク位置が分かる写真）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3630168"/>
            <a:ext cx="1783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F3D5C"/>
                </a:solidFill>
                <a:latin typeface="Noto Sans CJK JP"/>
              </a:rPr>
              <a:t>完成状態の要点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4005072"/>
            <a:ext cx="178308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・検査位置：［　　　　　］
・IRセンサ：［　　　　　］
・HUSKYLENS：［　　　　］
・PLC連携：［ 有 / 無 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3383280"/>
            <a:ext cx="5120640" cy="1051560"/>
          </a:xfrm>
          <a:prstGeom prst="roundRect">
            <a:avLst/>
          </a:prstGeom>
          <a:solidFill>
            <a:srgbClr val="E3F1E7"/>
          </a:solidFill>
          <a:ln w="12700">
            <a:solidFill>
              <a:srgbClr val="B4CD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12280" y="3575304"/>
            <a:ext cx="1280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F3D5C"/>
                </a:solidFill>
                <a:latin typeface="Noto Sans CJK JP"/>
              </a:rPr>
              <a:t>製品仕様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575304"/>
            <a:ext cx="338328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292F36"/>
                </a:solidFill>
                <a:latin typeface="Noto Sans CJK JP"/>
              </a:rPr>
              <a:t>OK：青・青・青 ／ 黄・黄・黄
NG：上記以外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37960" y="4599432"/>
            <a:ext cx="5120640" cy="1115568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BE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12280" y="4754880"/>
            <a:ext cx="4526280" cy="7498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この設備の一連動作を1文で説明：
［　　　　　　　　　　　　　　　　　　　　　　　　　］
［　　　　　　　　　　　　　　　　　　　　　　　　　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565392"/>
            <a:ext cx="7315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00" b="0">
                <a:solidFill>
                  <a:srgbClr val="69717A"/>
                </a:solidFill>
                <a:latin typeface="Noto Sans CJK JP"/>
              </a:rPr>
              <a:t>第8回 メカトロニクス実習｜納品プレゼン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84280" y="6537960"/>
            <a:ext cx="3200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700" b="0">
                <a:solidFill>
                  <a:srgbClr val="69717A"/>
                </a:solidFill>
                <a:latin typeface="Noto Sans CJK JP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2471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D5C"/>
                </a:solidFill>
                <a:latin typeface="Noto Sans CJK JP"/>
              </a:rPr>
              <a:t>最終検収結果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58368"/>
            <a:ext cx="11338560" cy="41148"/>
          </a:xfrm>
          <a:prstGeom prst="rect">
            <a:avLst/>
          </a:prstGeom>
          <a:solidFill>
            <a:srgbClr val="1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731520"/>
            <a:ext cx="111556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9717A"/>
                </a:solidFill>
                <a:latin typeface="Noto Sans CJK JP"/>
              </a:rPr>
              <a:t>数値で「処理できたか」と「正しく判定できたか」を説明する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965960" cy="1024128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1271016"/>
            <a:ext cx="1819656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F3D5C"/>
                </a:solidFill>
                <a:latin typeface="Noto Sans CJK JP"/>
              </a:rPr>
              <a:t>試行回数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1572768"/>
            <a:ext cx="181965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292F36"/>
                </a:solidFill>
                <a:latin typeface="Noto Sans CJK JP"/>
              </a:rPr>
              <a:t>［　］回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143000"/>
            <a:ext cx="1965960" cy="1024128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3512" y="1271016"/>
            <a:ext cx="1819656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F3D5C"/>
                </a:solidFill>
                <a:latin typeface="Noto Sans CJK JP"/>
              </a:rPr>
              <a:t>Class ID 正答率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2" y="1572768"/>
            <a:ext cx="181965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292F36"/>
                </a:solidFill>
                <a:latin typeface="Noto Sans CJK JP"/>
              </a:rPr>
              <a:t>［　］%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1143000"/>
            <a:ext cx="1965960" cy="1024128"/>
          </a:xfrm>
          <a:prstGeom prst="roundRect">
            <a:avLst/>
          </a:prstGeom>
          <a:solidFill>
            <a:srgbClr val="E3F1E7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0952" y="1271016"/>
            <a:ext cx="1819656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F3D5C"/>
                </a:solidFill>
                <a:latin typeface="Noto Sans CJK JP"/>
              </a:rPr>
              <a:t>設備判定 正答率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1572768"/>
            <a:ext cx="181965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292F36"/>
                </a:solidFill>
                <a:latin typeface="Noto Sans CJK JP"/>
              </a:rPr>
              <a:t>［　］%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1143000"/>
            <a:ext cx="1965960" cy="1024128"/>
          </a:xfrm>
          <a:prstGeom prst="roundRect">
            <a:avLst/>
          </a:prstGeom>
          <a:solidFill>
            <a:srgbClr val="F9E8E8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08392" y="1271016"/>
            <a:ext cx="1819656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>
                <a:solidFill>
                  <a:srgbClr val="1F3D5C"/>
                </a:solidFill>
                <a:latin typeface="Noto Sans CJK JP"/>
              </a:rPr>
              <a:t>NG → 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1572768"/>
            <a:ext cx="181965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1">
                <a:solidFill>
                  <a:srgbClr val="292F36"/>
                </a:solidFill>
                <a:latin typeface="Noto Sans CJK JP"/>
              </a:rPr>
              <a:t>［　］回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23160"/>
            <a:ext cx="777240" cy="384048"/>
          </a:xfrm>
          <a:prstGeom prst="rect">
            <a:avLst/>
          </a:prstGeom>
          <a:solidFill>
            <a:srgbClr val="1F3D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423160"/>
            <a:ext cx="777240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JP"/>
              </a:rPr>
              <a:t>Class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423160"/>
            <a:ext cx="1234440" cy="384048"/>
          </a:xfrm>
          <a:prstGeom prst="rect">
            <a:avLst/>
          </a:prstGeom>
          <a:solidFill>
            <a:srgbClr val="1F3D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2423160"/>
            <a:ext cx="1234440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JP"/>
              </a:rPr>
              <a:t>試行数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2423160"/>
            <a:ext cx="1234440" cy="384048"/>
          </a:xfrm>
          <a:prstGeom prst="rect">
            <a:avLst/>
          </a:prstGeom>
          <a:solidFill>
            <a:srgbClr val="1F3D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2423160"/>
            <a:ext cx="1234440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JP"/>
              </a:rPr>
              <a:t>ID 正解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39" y="2423160"/>
            <a:ext cx="1417320" cy="384048"/>
          </a:xfrm>
          <a:prstGeom prst="rect">
            <a:avLst/>
          </a:prstGeom>
          <a:solidFill>
            <a:srgbClr val="1F3D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2423160"/>
            <a:ext cx="1417320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JP"/>
              </a:rPr>
              <a:t>設備判定正解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59" y="2423160"/>
            <a:ext cx="2148840" cy="384048"/>
          </a:xfrm>
          <a:prstGeom prst="rect">
            <a:avLst/>
          </a:prstGeom>
          <a:solidFill>
            <a:srgbClr val="1F3D5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59" y="2423160"/>
            <a:ext cx="2148840" cy="38404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 CJK JP"/>
              </a:rPr>
              <a:t>気づき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807208"/>
            <a:ext cx="7772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807208"/>
            <a:ext cx="7772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ID1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2807208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280720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2807208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514600" y="280720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39" y="2807208"/>
            <a:ext cx="141732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49039" y="2807208"/>
            <a:ext cx="14173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66359" y="2807208"/>
            <a:ext cx="21488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66359" y="2807208"/>
            <a:ext cx="21488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292F36"/>
                </a:solidFill>
                <a:latin typeface="Noto Sans CJK JP"/>
              </a:rPr>
              <a:t>［　　　　　　　　　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10128"/>
            <a:ext cx="7772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310128"/>
            <a:ext cx="7772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ID2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" y="3310128"/>
            <a:ext cx="12344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80160" y="331012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14600" y="3310128"/>
            <a:ext cx="12344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331012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39" y="3310128"/>
            <a:ext cx="141732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39" y="3310128"/>
            <a:ext cx="14173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66359" y="3310128"/>
            <a:ext cx="21488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66359" y="3310128"/>
            <a:ext cx="21488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292F36"/>
                </a:solidFill>
                <a:latin typeface="Noto Sans CJK JP"/>
              </a:rPr>
              <a:t>［　　　　　　　　　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813048"/>
            <a:ext cx="7772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813048"/>
            <a:ext cx="7772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ID3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3813048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0160" y="381304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14600" y="3813048"/>
            <a:ext cx="12344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14600" y="381304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49039" y="3813048"/>
            <a:ext cx="141732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49039" y="3813048"/>
            <a:ext cx="14173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66359" y="3813048"/>
            <a:ext cx="214884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6359" y="3813048"/>
            <a:ext cx="21488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292F36"/>
                </a:solidFill>
                <a:latin typeface="Noto Sans CJK JP"/>
              </a:rPr>
              <a:t>［　　　　　　　　　］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315968"/>
            <a:ext cx="7772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315968"/>
            <a:ext cx="7772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ID4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80160" y="4315968"/>
            <a:ext cx="12344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80160" y="431596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14600" y="4315968"/>
            <a:ext cx="12344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14600" y="4315968"/>
            <a:ext cx="12344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49039" y="4315968"/>
            <a:ext cx="141732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49039" y="4315968"/>
            <a:ext cx="14173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/>
            <a:r>
              <a:rPr sz="900" b="0">
                <a:solidFill>
                  <a:srgbClr val="292F36"/>
                </a:solidFill>
                <a:latin typeface="Noto Sans CJK JP"/>
              </a:rPr>
              <a:t>［　］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66359" y="4315968"/>
            <a:ext cx="2148840" cy="502920"/>
          </a:xfrm>
          <a:prstGeom prst="rect">
            <a:avLst/>
          </a:prstGeom>
          <a:solidFill>
            <a:srgbClr val="F5F7F9"/>
          </a:solidFill>
          <a:ln w="889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166359" y="4315968"/>
            <a:ext cx="214884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292F36"/>
                </a:solidFill>
                <a:latin typeface="Noto Sans CJK JP"/>
              </a:rPr>
              <a:t>［　　　　　　　　　］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09560" y="2423160"/>
            <a:ext cx="3749039" cy="2395728"/>
          </a:xfrm>
          <a:prstGeom prst="roundRect">
            <a:avLst/>
          </a:prstGeom>
          <a:solidFill>
            <a:srgbClr val="FCF1D8"/>
          </a:solidFill>
          <a:ln w="12700">
            <a:solidFill>
              <a:srgbClr val="DCC5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83879" y="2651760"/>
            <a:ext cx="3200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F3D5C"/>
                </a:solidFill>
                <a:latin typeface="Noto Sans CJK JP"/>
              </a:rPr>
              <a:t>説明するとき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83879" y="3063240"/>
            <a:ext cx="3154680" cy="1417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・コンベア速度には追従できたか
・どのClassで誤りが多かったか
・NG品をOKにした誤判定はあったか
・PLC / FA設備側出力まで正しく動いたか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5010912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F3D5C"/>
                </a:solidFill>
                <a:latin typeface="Noto Sans CJK JP"/>
              </a:rPr>
              <a:t>最も重要だった誤判定：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606040" y="4928616"/>
            <a:ext cx="9052560" cy="667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8920" y="5102352"/>
            <a:ext cx="8686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［　　　　　　　　　　　　　　　　　　　　　　　　　　　　　　　　　　　　　　　　　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912" y="6565392"/>
            <a:ext cx="7315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00" b="0">
                <a:solidFill>
                  <a:srgbClr val="69717A"/>
                </a:solidFill>
                <a:latin typeface="Noto Sans CJK JP"/>
              </a:rPr>
              <a:t>第8回 メカトロニクス実習｜納品プレゼン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384280" y="6537960"/>
            <a:ext cx="3200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700" b="0">
                <a:solidFill>
                  <a:srgbClr val="69717A"/>
                </a:solidFill>
                <a:latin typeface="Noto Sans CJK JP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2471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D5C"/>
                </a:solidFill>
                <a:latin typeface="Noto Sans CJK JP"/>
              </a:rPr>
              <a:t>工夫・変更したところ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58368"/>
            <a:ext cx="11338560" cy="41148"/>
          </a:xfrm>
          <a:prstGeom prst="rect">
            <a:avLst/>
          </a:prstGeom>
          <a:solidFill>
            <a:srgbClr val="1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731520"/>
            <a:ext cx="111556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9717A"/>
                </a:solidFill>
                <a:latin typeface="Noto Sans CJK JP"/>
              </a:rPr>
              <a:t>「現在仕様 → 問題点・変更理由 → 変更後の結果」の順で説明する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3108960" cy="2331720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53312"/>
            <a:ext cx="277977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F3D5C"/>
                </a:solidFill>
                <a:latin typeface="Noto Sans CJK JP"/>
              </a:rPr>
              <a:t>現在仕様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265176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・例：IRセンサを真鍮ベースへ正対
・［　　　　　　　　　　　　　］
・［　　　　　　　　　　　　　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1170432"/>
            <a:ext cx="3108960" cy="2331720"/>
          </a:xfrm>
          <a:prstGeom prst="roundRect">
            <a:avLst/>
          </a:prstGeom>
          <a:solidFill>
            <a:srgbClr val="FCF1D8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33672" y="1353312"/>
            <a:ext cx="277977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F3D5C"/>
                </a:solidFill>
                <a:latin typeface="Noto Sans CJK JP"/>
              </a:rPr>
              <a:t>問題点・変更理由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47088"/>
            <a:ext cx="265176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・例：斜めでは検出が揺れた
・［　　　　　　　　　　　　　］
・［　　　　　　　　　　　　　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170432"/>
            <a:ext cx="3108960" cy="2331720"/>
          </a:xfrm>
          <a:prstGeom prst="roundRect">
            <a:avLst/>
          </a:prstGeom>
          <a:solidFill>
            <a:srgbClr val="E3F1E7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9831" y="1353312"/>
            <a:ext cx="2779776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F3D5C"/>
                </a:solidFill>
                <a:latin typeface="Noto Sans CJK JP"/>
              </a:rPr>
              <a:t>変更後の結果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47088"/>
            <a:ext cx="265176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・例：検出が安定した
・［　　　　　　　　　　　　　］
・［　　　　　　　　　　　　　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37033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050791"/>
            <a:ext cx="3246120" cy="868680"/>
          </a:xfrm>
          <a:prstGeom prst="rect">
            <a:avLst/>
          </a:prstGeom>
          <a:solidFill>
            <a:srgbClr val="F5F7F9"/>
          </a:solidFill>
          <a:ln>
            <a:solidFill>
              <a:srgbClr val="B8C1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51960"/>
            <a:ext cx="324612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0">
                <a:solidFill>
                  <a:srgbClr val="69717A"/>
                </a:solidFill>
                <a:latin typeface="Noto Sans CJK JP"/>
              </a:rPr>
              <a:t>設置前 / 設置後などの写真・図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749039"/>
            <a:ext cx="3154680" cy="1600200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950208"/>
            <a:ext cx="2743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F3D5C"/>
                </a:solidFill>
                <a:latin typeface="Noto Sans CJK JP"/>
              </a:rPr>
              <a:t>PLC連携した場合：実使用I/O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361688"/>
            <a:ext cx="274320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ステーション：［　　　］
PLC入力：X［　　　］
PLC出力：Y［　　　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3749039"/>
            <a:ext cx="3840480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8431" y="3941063"/>
            <a:ext cx="3429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F3D5C"/>
                </a:solidFill>
                <a:latin typeface="Noto Sans CJK JP"/>
              </a:rPr>
              <a:t>候補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4315968"/>
            <a:ext cx="33375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92F36"/>
                </a:solidFill>
                <a:latin typeface="Noto Sans CJK JP"/>
              </a:rPr>
              <a:t>センサ位置／カメラ位置／ジグ／背景
学習状態／タイミング／プログラム／PLC連携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4983480"/>
            <a:ext cx="33375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69717A"/>
                </a:solidFill>
                <a:latin typeface="Noto Sans CJK JP"/>
              </a:rPr>
              <a:t>※ 結果に効いたものを2～3点選ぶ。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6565392"/>
            <a:ext cx="7315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00" b="0">
                <a:solidFill>
                  <a:srgbClr val="69717A"/>
                </a:solidFill>
                <a:latin typeface="Noto Sans CJK JP"/>
              </a:rPr>
              <a:t>第8回 メカトロニクス実習｜納品プレゼン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84280" y="6537960"/>
            <a:ext cx="3200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700" b="0">
                <a:solidFill>
                  <a:srgbClr val="69717A"/>
                </a:solidFill>
                <a:latin typeface="Noto Sans CJK JP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2471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F3D5C"/>
                </a:solidFill>
                <a:latin typeface="Noto Sans CJK JP"/>
              </a:rPr>
              <a:t>残課題と納品判断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658368"/>
            <a:ext cx="11338560" cy="41148"/>
          </a:xfrm>
          <a:prstGeom prst="rect">
            <a:avLst/>
          </a:prstGeom>
          <a:solidFill>
            <a:srgbClr val="1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731520"/>
            <a:ext cx="111556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9717A"/>
                </a:solidFill>
                <a:latin typeface="Noto Sans CJK JP"/>
              </a:rPr>
              <a:t>良い点だけでなく、設備の限界と条件も説明する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5394960" cy="2011680"/>
          </a:xfrm>
          <a:prstGeom prst="roundRect">
            <a:avLst/>
          </a:prstGeom>
          <a:solidFill>
            <a:srgbClr val="E3F1E7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89888"/>
            <a:ext cx="48920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F3D5C"/>
                </a:solidFill>
                <a:latin typeface="Noto Sans CJK JP"/>
              </a:rPr>
              <a:t>現在の設備でできること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74519"/>
            <a:ext cx="47091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・［　　　　　　　　　　　　　　　　　　　　　　］
・［　　　　　　　　　　　　　　　　　　　　　　］
・［　　　　　　　　　　　　　　　　　　　　　　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88720"/>
            <a:ext cx="5394960" cy="2011680"/>
          </a:xfrm>
          <a:prstGeom prst="roundRect">
            <a:avLst/>
          </a:prstGeom>
          <a:solidFill>
            <a:srgbClr val="F9E8E8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1389888"/>
            <a:ext cx="48920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F3D5C"/>
                </a:solidFill>
                <a:latin typeface="Noto Sans CJK JP"/>
              </a:rPr>
              <a:t>まだ残っている課題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7091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292F36"/>
                </a:solidFill>
                <a:latin typeface="Noto Sans CJK JP"/>
              </a:rPr>
              <a:t>・［　　　　　　　　　　　　　　　　　　　　　　］
・［　　　　　　　　　　　　　　　　　　　　　　］
・［　　　　　　　　　　　　　　　　　　　　　　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93008"/>
            <a:ext cx="11155680" cy="804672"/>
          </a:xfrm>
          <a:prstGeom prst="roundRect">
            <a:avLst/>
          </a:prstGeom>
          <a:solidFill>
            <a:srgbClr val="EBF3FA"/>
          </a:solidFill>
          <a:ln w="12700">
            <a:solidFill>
              <a:srgbClr val="789A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85032"/>
            <a:ext cx="23317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F3D5C"/>
                </a:solidFill>
                <a:latin typeface="Noto Sans CJK JP"/>
              </a:rPr>
              <a:t>この設備を納品できるか？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3685032"/>
            <a:ext cx="81381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292F36"/>
                </a:solidFill>
                <a:latin typeface="Noto Sans CJK JP"/>
              </a:rPr>
              <a:t>□ 納品できる　　□ 条件付きで納品できる　　□ まだ納品できない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590288"/>
            <a:ext cx="1234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F3D5C"/>
                </a:solidFill>
                <a:latin typeface="Noto Sans CJK JP"/>
              </a:rPr>
              <a:t>判断した理由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4498848"/>
            <a:ext cx="9966960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4519" y="4681728"/>
            <a:ext cx="9555480" cy="2834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92F36"/>
                </a:solidFill>
                <a:latin typeface="Noto Sans CJK JP"/>
              </a:rPr>
              <a:t>［ 最終試験の数値と残課題を使って説明する　　　　　　　　　　　　　　　　　　　　　　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422392"/>
            <a:ext cx="12344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1F3D5C"/>
                </a:solidFill>
                <a:latin typeface="Noto Sans CJK JP"/>
              </a:rPr>
              <a:t>納品条件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1640" y="5330952"/>
            <a:ext cx="9966960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8C1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504688"/>
            <a:ext cx="95554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92F36"/>
                </a:solidFill>
                <a:latin typeface="Noto Sans CJK JP"/>
              </a:rPr>
              <a:t>［ 条件付きの場合：使用条件・制約・今後必要な改善を記入　　　　　　　　　　　　　　　　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6199632"/>
            <a:ext cx="11430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>
                <a:solidFill>
                  <a:srgbClr val="69717A"/>
                </a:solidFill>
                <a:latin typeface="Noto Sans CJK JP"/>
              </a:rPr>
              <a:t>発表時間：5分程度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6565392"/>
            <a:ext cx="73152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00" b="0">
                <a:solidFill>
                  <a:srgbClr val="69717A"/>
                </a:solidFill>
                <a:latin typeface="Noto Sans CJK JP"/>
              </a:rPr>
              <a:t>第8回 メカトロニクス実習｜納品プレゼン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84280" y="6537960"/>
            <a:ext cx="3200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700" b="0">
                <a:solidFill>
                  <a:srgbClr val="69717A"/>
                </a:solidFill>
                <a:latin typeface="Noto Sans CJK JP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