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08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17512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02920" y="6556248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 メカトロニクス実習｜AI外観検査システム 最終発表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652760" y="655624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2nd turn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3796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3796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235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完成した検査システム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287000" y="347472"/>
            <a:ext cx="1234440" cy="384048"/>
          </a:xfrm>
          <a:prstGeom prst="roundRect">
            <a:avLst>
              <a:gd name="adj" fmla="val 16667"/>
            </a:avLst>
          </a:prstGeom>
          <a:solidFill>
            <a:srgbClr val="DDF3EF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0287000" y="438912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グループ：　　　　　　　　　　発表者：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261872"/>
            <a:ext cx="356616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完成した設備の写真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536192"/>
            <a:ext cx="4617720" cy="3182112"/>
          </a:xfrm>
          <a:prstGeom prst="roundRect">
            <a:avLst>
              <a:gd name="adj" fmla="val 1724"/>
            </a:avLst>
          </a:prstGeom>
          <a:solidFill>
            <a:srgbClr val="FDFE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76656" y="1627632"/>
            <a:ext cx="4398264" cy="2999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ここに完成した検査装置の写真を貼る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（IRセンサ・HUSKYLENS・ワーク位置が分かる写真）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68112" y="1261872"/>
            <a:ext cx="27432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最終的な設置条件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68112" y="1554480"/>
            <a:ext cx="61264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596128" y="1645920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検査位置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720840" y="1636776"/>
            <a:ext cx="4681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例：第○ステーション後／コンベア上の位置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68112" y="2304288"/>
            <a:ext cx="6126480" cy="658368"/>
          </a:xfrm>
          <a:prstGeom prst="roundRect">
            <a:avLst>
              <a:gd name="adj" fmla="val 6944"/>
            </a:avLst>
          </a:prstGeom>
          <a:solidFill>
            <a:srgbClr val="F8FAFC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5596128" y="23957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IRセンサ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20840" y="2386584"/>
            <a:ext cx="4681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位置・向き・検出対象（アルミベース）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68112" y="3054096"/>
            <a:ext cx="61264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5596128" y="3145536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HUSKYLENS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20840" y="3136392"/>
            <a:ext cx="4681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位置・向き・背景・撮像条件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68112" y="3803904"/>
            <a:ext cx="6126480" cy="658368"/>
          </a:xfrm>
          <a:prstGeom prst="roundRect">
            <a:avLst>
              <a:gd name="adj" fmla="val 6944"/>
            </a:avLst>
          </a:prstGeom>
          <a:solidFill>
            <a:srgbClr val="F8FAFC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5596128" y="38953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PLC連携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20840" y="3886200"/>
            <a:ext cx="4681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Relay → PLC入力 X00 を確認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66928" y="4965192"/>
            <a:ext cx="18288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信号の流れ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3232" y="5330952"/>
            <a:ext cx="1554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768096" y="5449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IRセンサ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50008" y="5440680"/>
            <a:ext cx="329184" cy="292608"/>
          </a:xfrm>
          <a:prstGeom prst="chevron">
            <a:avLst/>
          </a:prstGeom>
          <a:solidFill>
            <a:srgbClr val="9BB6D1"/>
          </a:solidFill>
          <a:ln w="12700">
            <a:solidFill>
              <a:srgbClr val="9BB6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2743200" y="5330952"/>
            <a:ext cx="1554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2798064" y="5449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HUSKYLENS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79976" y="5440680"/>
            <a:ext cx="329184" cy="292608"/>
          </a:xfrm>
          <a:prstGeom prst="chevron">
            <a:avLst/>
          </a:prstGeom>
          <a:solidFill>
            <a:srgbClr val="9BB6D1"/>
          </a:solidFill>
          <a:ln w="12700">
            <a:solidFill>
              <a:srgbClr val="9BB6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Shape 27"/>
          <p:cNvSpPr/>
          <p:nvPr/>
        </p:nvSpPr>
        <p:spPr>
          <a:xfrm>
            <a:off x="4773168" y="5330952"/>
            <a:ext cx="1554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4828032" y="5449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09944" y="5440680"/>
            <a:ext cx="329184" cy="292608"/>
          </a:xfrm>
          <a:prstGeom prst="chevron">
            <a:avLst/>
          </a:prstGeom>
          <a:solidFill>
            <a:srgbClr val="9BB6D1"/>
          </a:solidFill>
          <a:ln w="12700">
            <a:solidFill>
              <a:srgbClr val="9BB6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Shape 30"/>
          <p:cNvSpPr/>
          <p:nvPr/>
        </p:nvSpPr>
        <p:spPr>
          <a:xfrm>
            <a:off x="6803136" y="5330952"/>
            <a:ext cx="1554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6858000" y="5449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Relay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439912" y="5440680"/>
            <a:ext cx="329184" cy="292608"/>
          </a:xfrm>
          <a:prstGeom prst="chevron">
            <a:avLst/>
          </a:prstGeom>
          <a:solidFill>
            <a:srgbClr val="9BB6D1"/>
          </a:solidFill>
          <a:ln w="12700">
            <a:solidFill>
              <a:srgbClr val="9BB6D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33"/>
          <p:cNvSpPr/>
          <p:nvPr/>
        </p:nvSpPr>
        <p:spPr>
          <a:xfrm>
            <a:off x="8833104" y="5330952"/>
            <a:ext cx="1554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34"/>
          <p:cNvSpPr/>
          <p:nvPr/>
        </p:nvSpPr>
        <p:spPr>
          <a:xfrm>
            <a:off x="8887968" y="5449824"/>
            <a:ext cx="14447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PLC X00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85216" y="5989320"/>
            <a:ext cx="10927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X00 は既存センサと共有。今回は「M5 → Relay → PLC入力」までの連携を確認。</a:t>
            </a:r>
            <a:endParaRPr lang="en-US" sz="11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3796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235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最終検収結果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287000" y="347472"/>
            <a:ext cx="1234440" cy="384048"/>
          </a:xfrm>
          <a:prstGeom prst="roundRect">
            <a:avLst>
              <a:gd name="adj" fmla="val 16667"/>
            </a:avLst>
          </a:prstGeom>
          <a:solidFill>
            <a:srgbClr val="DDF3EF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0287000" y="438912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877824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改善前20回 → 1項目だけ改善 → 改善後20回 の結果をまとめる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298448"/>
            <a:ext cx="3749040" cy="475488"/>
          </a:xfrm>
          <a:prstGeom prst="rect">
            <a:avLst/>
          </a:prstGeom>
          <a:solidFill>
            <a:srgbClr val="1F4E79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621792" y="1417320"/>
            <a:ext cx="3639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項目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15968" y="1298448"/>
            <a:ext cx="1965960" cy="475488"/>
          </a:xfrm>
          <a:prstGeom prst="rect">
            <a:avLst/>
          </a:prstGeom>
          <a:solidFill>
            <a:srgbClr val="EAF1F8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4370832" y="1417320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81928" y="1298448"/>
            <a:ext cx="1965960" cy="475488"/>
          </a:xfrm>
          <a:prstGeom prst="rect">
            <a:avLst/>
          </a:prstGeom>
          <a:solidFill>
            <a:srgbClr val="EAF1F8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6336792" y="1417320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47888" y="1298448"/>
            <a:ext cx="3127248" cy="475488"/>
          </a:xfrm>
          <a:prstGeom prst="rect">
            <a:avLst/>
          </a:prstGeom>
          <a:solidFill>
            <a:srgbClr val="EAF1F8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302752" y="141732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変化・気づき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1773936"/>
            <a:ext cx="374904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58368" y="190195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推定ID 一致率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15968" y="1773936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4389120" y="1901952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81928" y="1773936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355080" y="1901952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47888" y="1773936"/>
            <a:ext cx="31272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8321040" y="1901952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例：+15pt / 変化なし / 20→20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2286000"/>
            <a:ext cx="37490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658368" y="24140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良否判定 一致率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15968" y="2286000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4389120" y="241401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81928" y="2286000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6355080" y="2414016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47888" y="2286000"/>
            <a:ext cx="31272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8321040" y="2414016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例：+15pt / 変化なし / 20→20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2798064"/>
            <a:ext cx="374904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658368" y="29260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見逃し回数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15968" y="2798064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3" name="Text 31"/>
          <p:cNvSpPr/>
          <p:nvPr/>
        </p:nvSpPr>
        <p:spPr>
          <a:xfrm>
            <a:off x="4389120" y="292608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81928" y="2798064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5" name="Text 33"/>
          <p:cNvSpPr/>
          <p:nvPr/>
        </p:nvSpPr>
        <p:spPr>
          <a:xfrm>
            <a:off x="6355080" y="2926080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247888" y="2798064"/>
            <a:ext cx="31272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35"/>
          <p:cNvSpPr/>
          <p:nvPr/>
        </p:nvSpPr>
        <p:spPr>
          <a:xfrm>
            <a:off x="8321040" y="2926080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例：+15pt / 変化なし / 20→20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66928" y="3310128"/>
            <a:ext cx="37490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9" name="Text 37"/>
          <p:cNvSpPr/>
          <p:nvPr/>
        </p:nvSpPr>
        <p:spPr>
          <a:xfrm>
            <a:off x="658368" y="3438144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KENSA COUNT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315968" y="3310128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39"/>
          <p:cNvSpPr/>
          <p:nvPr/>
        </p:nvSpPr>
        <p:spPr>
          <a:xfrm>
            <a:off x="4389120" y="3438144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81928" y="3310128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3" name="Text 41"/>
          <p:cNvSpPr/>
          <p:nvPr/>
        </p:nvSpPr>
        <p:spPr>
          <a:xfrm>
            <a:off x="6355080" y="3438144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247888" y="3310128"/>
            <a:ext cx="31272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5" name="Text 43"/>
          <p:cNvSpPr/>
          <p:nvPr/>
        </p:nvSpPr>
        <p:spPr>
          <a:xfrm>
            <a:off x="8321040" y="3438144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例：+15pt / 変化なし / 20→20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66928" y="3822192"/>
            <a:ext cx="3749040" cy="512064"/>
          </a:xfrm>
          <a:prstGeom prst="rect">
            <a:avLst/>
          </a:prstGeom>
          <a:solidFill>
            <a:srgbClr val="F8FAFC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7" name="Text 45"/>
          <p:cNvSpPr/>
          <p:nvPr/>
        </p:nvSpPr>
        <p:spPr>
          <a:xfrm>
            <a:off x="658368" y="3950208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1ワークあたり平均検査回数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315968" y="3822192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9" name="Text 47"/>
          <p:cNvSpPr/>
          <p:nvPr/>
        </p:nvSpPr>
        <p:spPr>
          <a:xfrm>
            <a:off x="4389120" y="3950208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281928" y="3822192"/>
            <a:ext cx="19659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Text 49"/>
          <p:cNvSpPr/>
          <p:nvPr/>
        </p:nvSpPr>
        <p:spPr>
          <a:xfrm>
            <a:off x="6355080" y="3950208"/>
            <a:ext cx="18196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247888" y="3822192"/>
            <a:ext cx="3127248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3" name="Text 51"/>
          <p:cNvSpPr/>
          <p:nvPr/>
        </p:nvSpPr>
        <p:spPr>
          <a:xfrm>
            <a:off x="8321040" y="3950208"/>
            <a:ext cx="2980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CA3A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例：+15pt / 変化なし / 20→20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66928" y="4526280"/>
            <a:ext cx="5074920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5" name="Text 53"/>
          <p:cNvSpPr/>
          <p:nvPr/>
        </p:nvSpPr>
        <p:spPr>
          <a:xfrm>
            <a:off x="749808" y="469087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今回、変更した1項目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749808" y="505663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例：HUSKYLENS の再学習だけ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5870448" y="4526280"/>
            <a:ext cx="5733288" cy="1335024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8" name="Text 56"/>
          <p:cNvSpPr/>
          <p:nvPr/>
        </p:nvSpPr>
        <p:spPr>
          <a:xfrm>
            <a:off x="6071616" y="469087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結果から言えること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6071616" y="5020056"/>
            <a:ext cx="5102352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・ID一致率と良否判定一致率はどう違った？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・改善で何が良くなった／悪くなった？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585216" y="609904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ポイント：判別精度の数字だけでなく、「なぜそうなったか」を説明する。</a:t>
            </a:r>
            <a:endParaRPr lang="en-US" sz="1200" dirty="0"/>
          </a:p>
        </p:txBody>
      </p:sp>
      <p:sp>
        <p:nvSpPr>
          <p:cNvPr id="6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3796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235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工夫・変更したところ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287000" y="347472"/>
            <a:ext cx="1234440" cy="384048"/>
          </a:xfrm>
          <a:prstGeom prst="roundRect">
            <a:avLst>
              <a:gd name="adj" fmla="val 16667"/>
            </a:avLst>
          </a:prstGeom>
          <a:solidFill>
            <a:srgbClr val="FFF1DD"/>
          </a:solidFill>
          <a:ln w="1524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0287000" y="438912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1・2枚目を完成させたあと、時間に余裕がある場合のみ作成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5468112" cy="1792224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777240" y="160020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改善前に見つけた問題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どんな誤分類・不安定さがあった？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542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記入：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770632"/>
            <a:ext cx="4315968" cy="0"/>
          </a:xfrm>
          <a:prstGeom prst="line">
            <a:avLst/>
          </a:prstGeom>
          <a:noFill/>
          <a:ln w="12700">
            <a:solidFill>
              <a:srgbClr val="AEB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Shape 9"/>
          <p:cNvSpPr/>
          <p:nvPr/>
        </p:nvSpPr>
        <p:spPr>
          <a:xfrm>
            <a:off x="6126480" y="1417320"/>
            <a:ext cx="5468112" cy="1792224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397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6309360" y="160020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変更したこと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09360" y="204825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変更は1項目だけ。何を変えた？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42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記入：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770632"/>
            <a:ext cx="4315968" cy="0"/>
          </a:xfrm>
          <a:prstGeom prst="line">
            <a:avLst/>
          </a:prstGeom>
          <a:noFill/>
          <a:ln w="12700">
            <a:solidFill>
              <a:srgbClr val="AEB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594360" y="3703320"/>
            <a:ext cx="5468112" cy="1792224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397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777240" y="388620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変更前の予想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433425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なぜ良くなると思った？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828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記入：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417320" y="5056632"/>
            <a:ext cx="4315968" cy="0"/>
          </a:xfrm>
          <a:prstGeom prst="line">
            <a:avLst/>
          </a:prstGeom>
          <a:noFill/>
          <a:ln w="12700">
            <a:solidFill>
              <a:srgbClr val="AEB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6126480" y="3703320"/>
            <a:ext cx="5468112" cy="1792224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397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6309360" y="3886200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実際の結果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309360" y="4334256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改善前後の数字・観察結果は？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09360" y="48280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記入：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49440" y="5056632"/>
            <a:ext cx="4315968" cy="0"/>
          </a:xfrm>
          <a:prstGeom prst="line">
            <a:avLst/>
          </a:prstGeom>
          <a:noFill/>
          <a:ln w="12700">
            <a:solidFill>
              <a:srgbClr val="AEB6C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603504" y="58521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悪くなった結果でもOK。「何を変えたら、どう変わったか」が説明できれば実験になる。</a:t>
            </a:r>
            <a:endParaRPr lang="en-US" sz="12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3796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235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残課題と納品判断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0287000" y="347472"/>
            <a:ext cx="1234440" cy="384048"/>
          </a:xfrm>
          <a:prstGeom prst="roundRect">
            <a:avLst>
              <a:gd name="adj" fmla="val 16667"/>
            </a:avLst>
          </a:prstGeom>
          <a:solidFill>
            <a:srgbClr val="FFF1DD"/>
          </a:solidFill>
          <a:ln w="15240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10287000" y="438912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89611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1・2枚目を完成させたあと、時間に余裕がある場合のみ作成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94360" y="1389888"/>
            <a:ext cx="544068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524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残っている課題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2130552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450592"/>
            <a:ext cx="4800600" cy="11155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・認識精度が条件によって変化する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・IRと撮像タイミングの調整余地がある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・X00 は既存センサと共有している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・実用化には PLC 側 I/O / ラダーの再設計が必要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39136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自分たちの設備で残った課題：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1248" y="4270248"/>
            <a:ext cx="45262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950976" y="4361688"/>
            <a:ext cx="4306824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1～2点に絞って記入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91072" y="1389888"/>
            <a:ext cx="530352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537960" y="1645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76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納品判断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47104" y="2148840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この設備は、どこまでできたと言える？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47104" y="2542032"/>
            <a:ext cx="45262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6656832" y="2633472"/>
            <a:ext cx="4306824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・20回試験を実施できた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・M5 → Relay → PLC入力まで確認できた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・ただし条件付きであり、実用化には残課題がある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47104" y="431596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最後の一言（1～2文）：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47104" y="4663440"/>
            <a:ext cx="452628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CD3DD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656832" y="4754880"/>
            <a:ext cx="4306824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今回の実験から分かったことを簡潔に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3504" y="5989320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発表は1グループ約5分。3・4枚目を作るために発表時間を失わないこと。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0896" y="6537960"/>
            <a:ext cx="201168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6B7280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321</Words>
  <Application>Microsoft Office PowerPoint</Application>
  <PresentationFormat>ワイド画面</PresentationFormat>
  <Paragraphs>99</Paragraphs>
  <Slides>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広島県立技術短大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081_final_presentation_template_2nd</dc:title>
  <dc:subject>メカトロニクス実習 第8回 2nd turn 納品プレゼンテンプレート</dc:subject>
  <dc:creator>OpenAI</dc:creator>
  <cp:lastModifiedBy>久保田 貴也</cp:lastModifiedBy>
  <cp:revision>1</cp:revision>
  <dcterms:created xsi:type="dcterms:W3CDTF">2026-09-25T02:38:26Z</dcterms:created>
  <dcterms:modified xsi:type="dcterms:W3CDTF">2026-09-25T02:41:27Z</dcterms:modified>
</cp:coreProperties>
</file>