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Objects="1">
      <p:cViewPr>
        <p:scale>
          <a:sx n="100" d="100"/>
          <a:sy n="100" d="100"/>
        </p:scale>
        <p:origin x="2508" y="2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454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メカトロニクス実習 第8回（2nd turn）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9372600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AI外観検査システム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判別精度 ＝ 成績、ではありません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今日の実験で見るのは「数字」だけではなく、そのプロセスです。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4983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 err="1">
                <a:solidFill>
                  <a:srgbClr val="2F75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判別精度</a:t>
            </a:r>
            <a:endParaRPr lang="en-US" sz="30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90%  /  100%</a:t>
            </a:r>
            <a:endParaRPr lang="en-US" sz="3800" dirty="0"/>
          </a:p>
          <a:p>
            <a:pPr marL="0" indent="0" algn="ctr">
              <a:buNone/>
            </a:pPr>
            <a:r>
              <a:rPr lang="en-US" sz="1700" dirty="0" err="1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大切な指標。でも、それだけではない</a:t>
            </a:r>
            <a:r>
              <a:rPr lang="en-US" sz="1700" dirty="0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80760" y="1508760"/>
            <a:ext cx="0" cy="3017520"/>
          </a:xfrm>
          <a:prstGeom prst="line">
            <a:avLst/>
          </a:prstGeom>
          <a:noFill/>
          <a:ln w="254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537960" y="15544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この実習で大切にすること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565392" y="2176272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931152" y="20848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どこで不安定になっているか考える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65392" y="2798064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931152" y="27066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確認方法を考える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65392" y="3419856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931152" y="33284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改善案を1つ選ぶ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65392" y="4041648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931152" y="39502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同じ条件で再実験する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65392" y="4663440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931152" y="45720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結果から次の手立てを考える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51560" y="5162107"/>
            <a:ext cx="10058400" cy="960120"/>
          </a:xfrm>
          <a:prstGeom prst="roundRect">
            <a:avLst>
              <a:gd name="adj" fmla="val 7619"/>
            </a:avLst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</a:t>
            </a:r>
            <a:r>
              <a:rPr lang="en-US" sz="2300" b="1" dirty="0" err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AIだから当たる」ではなく、AIカメラを含む</a:t>
            </a:r>
            <a:endParaRPr lang="en-US" sz="2300" b="1" dirty="0">
              <a:solidFill>
                <a:srgbClr val="1F4E79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  <a:p>
            <a:pPr marL="0" indent="0" algn="ctr">
              <a:buNone/>
            </a:pPr>
            <a:r>
              <a:rPr lang="en-US" sz="2300" b="1" dirty="0" err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検査システム全体を理解する</a:t>
            </a:r>
            <a:r>
              <a:rPr lang="en-US" sz="230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AIカメラ単体ではなく、システム全体を見る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判定が不安定なときは、どこに原因があるかを切り分けます。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IRセンサ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検査開始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1947672" y="2450592"/>
            <a:ext cx="310896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33172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BE9DD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HUSKYLENS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推定ID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3776472" y="2450592"/>
            <a:ext cx="402336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M5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良否判定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96712" y="2450592"/>
            <a:ext cx="402336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Relay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接点出力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7616952" y="2450592"/>
            <a:ext cx="402336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09244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5EC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PLC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X00入力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9537192" y="2450592"/>
            <a:ext cx="402336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0012680" y="19659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FA設備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設備動作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BE9DD"/>
          </a:solidFill>
          <a:ln w="12700">
            <a:solidFill>
              <a:srgbClr val="C55A11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C55A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AIカメラの分類機能</a:t>
            </a:r>
            <a:endParaRPr lang="en-US" sz="18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誤分類・未認識は起こりうる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</a:t>
            </a:r>
            <a:r>
              <a:rPr lang="en-US" sz="150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学習状態やクラス間の違いを見る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977640" y="333756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F75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撮像環境・タイミング</a:t>
            </a:r>
            <a:endParaRPr lang="en-US" sz="18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背景・光・フォーカス・位置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IR反応時にワークが正しく見えているか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18120" y="333756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EAF5EC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FAとの連携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M5 → Relay → </a:t>
            </a:r>
            <a:r>
              <a:rPr lang="en-US" sz="150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PLC入力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配線・接点・X00の状態まで確認する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5138928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一連の動作が不安定なら</a:t>
            </a:r>
            <a:r>
              <a:rPr lang="en-US" sz="19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、「</a:t>
            </a:r>
            <a:r>
              <a:rPr lang="en-US" sz="1900" b="1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AIの精度が悪い」で終わらせず</a:t>
            </a:r>
            <a:r>
              <a:rPr lang="en-US" sz="19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、</a:t>
            </a:r>
          </a:p>
          <a:p>
            <a:pPr marL="0" indent="0" algn="ctr">
              <a:buNone/>
            </a:pPr>
            <a:r>
              <a:rPr lang="en-US" sz="1900" b="1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</a:t>
            </a:r>
            <a:r>
              <a:rPr lang="en-US" sz="19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→ </a:t>
            </a:r>
            <a:r>
              <a:rPr lang="en-US" sz="1900" b="1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r>
              <a:rPr lang="en-US" sz="19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→ </a:t>
            </a:r>
            <a:r>
              <a:rPr lang="en-US" sz="1900" b="1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判断</a:t>
            </a:r>
            <a:r>
              <a:rPr lang="en-US" sz="19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→ </a:t>
            </a:r>
            <a:r>
              <a:rPr lang="en-US" sz="1900" b="1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出力を順に確認する</a:t>
            </a:r>
            <a:r>
              <a:rPr lang="en-US" sz="19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1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7575BF9-88A1-F0E7-A598-ED715A056ED8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96000" y="2133600"/>
            <a:ext cx="3810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⚠注意！</a:t>
            </a:r>
            <a:r>
              <a:rPr lang="en-US" sz="2700" b="1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用語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789920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</a:t>
            </a:r>
            <a:r>
              <a:rPr lang="en-US" sz="1400" dirty="0" err="1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IDが合ったか」と「良品・不良品の判定が合ったか」は別です</a:t>
            </a:r>
            <a:r>
              <a:rPr lang="en-US" sz="1400" dirty="0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ja-JP" sz="1400" b="1" u="sng" dirty="0">
                <a:solidFill>
                  <a:srgbClr val="FF0000"/>
                </a:solidFill>
                <a:latin typeface="Noto Sans CJK JP" pitchFamily="34" charset="0"/>
                <a:ea typeface="Noto Sans CJK JP" pitchFamily="34" charset="-122"/>
              </a:rPr>
              <a:t>ID </a:t>
            </a:r>
            <a:r>
              <a:rPr lang="ja-JP" altLang="en-US" sz="1400" b="1" u="sng" dirty="0">
                <a:solidFill>
                  <a:srgbClr val="FF0000"/>
                </a:solidFill>
                <a:latin typeface="Noto Sans CJK JP" pitchFamily="34" charset="0"/>
                <a:ea typeface="Noto Sans CJK JP" pitchFamily="34" charset="-122"/>
              </a:rPr>
              <a:t>が違っても、良品／不良品判定が一致することがあります。</a:t>
            </a:r>
            <a:endParaRPr lang="en-US" altLang="ja-JP" sz="1400" b="1" u="sng" dirty="0">
              <a:solidFill>
                <a:srgbClr val="FF0000"/>
              </a:solidFill>
              <a:latin typeface="Noto Sans CJK JP" pitchFamily="34" charset="0"/>
              <a:ea typeface="Noto Sans CJK JP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ja-JP" altLang="en-US" sz="1400" dirty="0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</a:rPr>
              <a:t>記録時、これを混同しないようにしましょう。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56410"/>
            <a:ext cx="10857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実物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019800"/>
            <a:ext cx="1135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システム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171700" y="2185416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正解ID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8571738" y="2002536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EAF2F8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実物の良否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良品 / 不良品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2171700" y="49022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推定ID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8077200" y="4902200"/>
            <a:ext cx="3048000" cy="841248"/>
          </a:xfrm>
          <a:prstGeom prst="roundRect">
            <a:avLst>
              <a:gd name="adj" fmla="val 8696"/>
            </a:avLst>
          </a:prstGeom>
          <a:solidFill>
            <a:srgbClr val="EAF5EC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M5の判定結果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OK</a:t>
            </a:r>
            <a:r>
              <a:rPr lang="ja-JP" altLang="en-US" sz="1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（良品）</a:t>
            </a:r>
            <a:r>
              <a:rPr lang="en-US" sz="1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/ NG</a:t>
            </a:r>
            <a:r>
              <a:rPr lang="ja-JP" altLang="en-US" sz="1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（不良品）</a:t>
            </a:r>
            <a:r>
              <a:rPr lang="en-US" sz="1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/ RETRY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95400" y="3429000"/>
            <a:ext cx="381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F75B5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2F75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ID一致</a:t>
            </a:r>
            <a:endParaRPr lang="en-US" sz="19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正解ID</a:t>
            </a:r>
            <a:r>
              <a:rPr lang="en-US" sz="15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と </a:t>
            </a:r>
            <a:r>
              <a:rPr lang="en-US" sz="150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推定ID</a:t>
            </a:r>
            <a:r>
              <a:rPr lang="en-US" sz="15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</a:t>
            </a:r>
            <a:r>
              <a:rPr lang="ja-JP" altLang="en-US" sz="150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があっていること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11618" y="33528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良否判定の一致</a:t>
            </a:r>
            <a:endParaRPr lang="en-US" sz="1900" dirty="0"/>
          </a:p>
          <a:p>
            <a:pPr marL="0" indent="0">
              <a:buNone/>
            </a:pPr>
            <a:r>
              <a:rPr lang="en-US" sz="145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実物の良否</a:t>
            </a:r>
            <a:r>
              <a:rPr lang="en-US" sz="145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と M5</a:t>
            </a:r>
            <a:r>
              <a:rPr lang="ja-JP" altLang="en-US" sz="145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の良品／不良品判定が</a:t>
            </a:r>
            <a:endParaRPr lang="en-US" altLang="ja-JP" sz="1450" dirty="0">
              <a:solidFill>
                <a:srgbClr val="202124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  <a:p>
            <a:pPr marL="0" indent="0">
              <a:buNone/>
            </a:pPr>
            <a:r>
              <a:rPr lang="ja-JP" altLang="en-US" sz="145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あっていること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257800" y="4800600"/>
            <a:ext cx="20574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B326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見逃し</a:t>
            </a:r>
            <a:endParaRPr lang="en-US" sz="1900" dirty="0"/>
          </a:p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IR</a:t>
            </a:r>
            <a:r>
              <a:rPr lang="ja-JP" altLang="en-US" sz="135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センサー</a:t>
            </a:r>
            <a:r>
              <a:rPr lang="en-US" sz="135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反応なし</a:t>
            </a:r>
            <a:endParaRPr lang="en-US" sz="1350" dirty="0"/>
          </a:p>
          <a:p>
            <a:pPr marL="0" indent="0">
              <a:buNone/>
            </a:pPr>
            <a:r>
              <a:rPr lang="en-US" sz="1350" dirty="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または</a:t>
            </a:r>
            <a:r>
              <a:rPr lang="en-US" sz="1350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ID=0 → RETRY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89888" y="642823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ID一致率が低くても良否判定一致率が高い場合があります</a:t>
            </a:r>
            <a:r>
              <a:rPr lang="en-US" sz="180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1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C9AF130E-4336-FA45-E8EC-A73C1236C794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>
            <a:off x="3200400" y="2843784"/>
            <a:ext cx="0" cy="58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FE169109-5DEC-6BA4-6866-B43A2E16A200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>
          <a:xfrm flipV="1">
            <a:off x="3200400" y="4434840"/>
            <a:ext cx="0" cy="46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03F148F9-D11C-685C-FA27-AB408F2D696F}"/>
              </a:ext>
            </a:extLst>
          </p:cNvPr>
          <p:cNvCxnSpPr>
            <a:stCxn id="9" idx="2"/>
            <a:endCxn id="19" idx="0"/>
          </p:cNvCxnSpPr>
          <p:nvPr/>
        </p:nvCxnSpPr>
        <p:spPr>
          <a:xfrm>
            <a:off x="9600438" y="2843784"/>
            <a:ext cx="0" cy="509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A7C389F8-1333-BF0F-2028-B2E6E68C5D3A}"/>
              </a:ext>
            </a:extLst>
          </p:cNvPr>
          <p:cNvCxnSpPr>
            <a:cxnSpLocks/>
            <a:stCxn id="14" idx="0"/>
            <a:endCxn id="19" idx="2"/>
          </p:cNvCxnSpPr>
          <p:nvPr/>
        </p:nvCxnSpPr>
        <p:spPr>
          <a:xfrm flipH="1" flipV="1">
            <a:off x="9600438" y="4358640"/>
            <a:ext cx="762" cy="543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円弧 80">
            <a:extLst>
              <a:ext uri="{FF2B5EF4-FFF2-40B4-BE49-F238E27FC236}">
                <a16:creationId xmlns:a16="http://schemas.microsoft.com/office/drawing/2014/main" id="{53BE7B37-34A3-D993-B5CF-D3B54B49DFDF}"/>
              </a:ext>
            </a:extLst>
          </p:cNvPr>
          <p:cNvSpPr/>
          <p:nvPr/>
        </p:nvSpPr>
        <p:spPr>
          <a:xfrm rot="10800000">
            <a:off x="6781800" y="5181600"/>
            <a:ext cx="3352800" cy="929640"/>
          </a:xfrm>
          <a:prstGeom prst="arc">
            <a:avLst>
              <a:gd name="adj1" fmla="val 10795121"/>
              <a:gd name="adj2" fmla="val 0"/>
            </a:avLst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改善の基本：一度に変えるのは1つだけ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「何を変えたから結果が変わったのか」を説明できる実験にします。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057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測定</a:t>
            </a:r>
            <a:endParaRPr lang="en-US" sz="1800"/>
          </a:p>
          <a:p>
            <a:pPr marL="0" indent="0" algn="ctr">
              <a:buNone/>
            </a:pPr>
            <a:r>
              <a:rPr lang="en-US" sz="145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まず現状を数値で</a:t>
            </a:r>
            <a:endParaRPr lang="en-US" sz="1450">
              <a:solidFill>
                <a:srgbClr val="202124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  <a:p>
            <a:pPr marL="0" indent="0" algn="ctr">
              <a:buNone/>
            </a:pPr>
            <a:r>
              <a:rPr lang="en-US" sz="1450" err="1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2587752" y="2715768"/>
            <a:ext cx="192024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816352" y="1965960"/>
            <a:ext cx="2057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問題を絞る</a:t>
            </a:r>
            <a:endParaRPr lang="en-US" sz="1800"/>
          </a:p>
          <a:p>
            <a:pPr marL="0" indent="0" algn="ctr">
              <a:buNone/>
            </a:pPr>
            <a:r>
              <a:rPr lang="en-US" sz="145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どんな誤りが多いかを見る</a:t>
            </a:r>
            <a:endParaRPr lang="en-US" sz="1450"/>
          </a:p>
        </p:txBody>
      </p:sp>
      <p:sp>
        <p:nvSpPr>
          <p:cNvPr id="11" name="Shape 9"/>
          <p:cNvSpPr/>
          <p:nvPr/>
        </p:nvSpPr>
        <p:spPr>
          <a:xfrm>
            <a:off x="4901184" y="2715768"/>
            <a:ext cx="192024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129784" y="1965960"/>
            <a:ext cx="2057400" cy="1481328"/>
          </a:xfrm>
          <a:prstGeom prst="roundRect">
            <a:avLst>
              <a:gd name="adj" fmla="val 4938"/>
            </a:avLst>
          </a:prstGeom>
          <a:solidFill>
            <a:srgbClr val="FBE9DD"/>
          </a:solidFill>
          <a:ln w="12700">
            <a:solidFill>
              <a:srgbClr val="C55A11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C55A1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1項目だけ変更</a:t>
            </a:r>
            <a:endParaRPr lang="en-US" sz="1800"/>
          </a:p>
          <a:p>
            <a:pPr marL="0" indent="0" algn="ctr">
              <a:buNone/>
            </a:pPr>
            <a:r>
              <a:rPr lang="en-US" sz="145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再学習・位置・背景など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7214616" y="2715768"/>
            <a:ext cx="192024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443216" y="1965960"/>
            <a:ext cx="2057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再測定</a:t>
            </a:r>
            <a:endParaRPr lang="en-US" sz="1800"/>
          </a:p>
          <a:p>
            <a:pPr marL="0" indent="0" algn="ctr">
              <a:buNone/>
            </a:pPr>
            <a:r>
              <a:rPr lang="en-US" sz="145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同じ20回で比較</a:t>
            </a:r>
            <a:endParaRPr lang="en-US" sz="1450"/>
          </a:p>
        </p:txBody>
      </p:sp>
      <p:sp>
        <p:nvSpPr>
          <p:cNvPr id="19" name="Shape 17"/>
          <p:cNvSpPr/>
          <p:nvPr/>
        </p:nvSpPr>
        <p:spPr>
          <a:xfrm>
            <a:off x="9528048" y="2715768"/>
            <a:ext cx="192024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756648" y="1965960"/>
            <a:ext cx="2057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比較・考察</a:t>
            </a:r>
            <a:endParaRPr lang="en-US" sz="1800"/>
          </a:p>
          <a:p>
            <a:pPr marL="0" indent="0" algn="ctr">
              <a:buNone/>
            </a:pPr>
            <a:r>
              <a:rPr lang="en-US" sz="145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次の手立てを考える</a:t>
            </a:r>
            <a:endParaRPr lang="en-US" sz="145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2F75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打てる手立ての例</a:t>
            </a:r>
            <a:endParaRPr lang="en-US" sz="1800"/>
          </a:p>
          <a:p>
            <a:pPr marL="0" indent="0">
              <a:buNone/>
            </a:pPr>
            <a:r>
              <a:rPr lang="en-US" sz="150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再学習 / カメラ位置 / 背景 / 照明 / フォーカス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IRセンサ位置・タイミング / 配線 / Relay・PLC確認</a:t>
            </a:r>
            <a:endParaRPr lang="en-US" sz="1500"/>
          </a:p>
        </p:txBody>
      </p:sp>
      <p:sp>
        <p:nvSpPr>
          <p:cNvPr id="26" name="Shape 24"/>
          <p:cNvSpPr/>
          <p:nvPr/>
        </p:nvSpPr>
        <p:spPr>
          <a:xfrm>
            <a:off x="6263640" y="39776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AF5EC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結果が悪化しても「失敗」とは限らない</a:t>
            </a:r>
            <a:endParaRPr lang="en-US" sz="1800"/>
          </a:p>
          <a:p>
            <a:pPr marL="0" indent="0">
              <a:buNone/>
            </a:pPr>
            <a:r>
              <a:rPr lang="en-US" sz="1550">
                <a:solidFill>
                  <a:srgbClr val="20212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変更と結果の関係が分かれば、それも次の改善につながる実験結果です。</a:t>
            </a:r>
            <a:endParaRPr lang="en-US" sz="1550"/>
          </a:p>
        </p:txBody>
      </p:sp>
      <p:sp>
        <p:nvSpPr>
          <p:cNvPr id="29" name="Shape 27"/>
          <p:cNvSpPr/>
          <p:nvPr/>
        </p:nvSpPr>
        <p:spPr>
          <a:xfrm>
            <a:off x="1005840" y="5486400"/>
            <a:ext cx="10104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  <p:txBody>
          <a:bodyPr wrap="square" lIns="91440" tIns="45720" rIns="91440" bIns="4572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今日の目標は「100%を出すこと」ではなく、</a:t>
            </a:r>
          </a:p>
          <a:p>
            <a:pPr marL="0" indent="0" algn="ctr">
              <a:buNone/>
            </a:pPr>
            <a:r>
              <a:rPr lang="en-US" sz="1900" b="1" err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システムを観察し、根拠をもって改善すること</a:t>
            </a:r>
            <a:r>
              <a:rPr lang="en-US" sz="1900" b="1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。</a:t>
            </a:r>
            <a:endParaRPr lang="en-US" sz="190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303</Words>
  <Application>Microsoft Office PowerPoint</Application>
  <PresentationFormat>ワイド画面</PresentationFormat>
  <Paragraphs>87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Noto Sans CJK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広島県立技術短大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AI外観検査 最終回 冒頭説明</dc:title>
  <dc:subject>メカトロニクス実習 第8回 2nd turn 冒頭説明</dc:subject>
  <dc:creator>OpenAI</dc:creator>
  <cp:lastModifiedBy>久保田 貴也</cp:lastModifiedBy>
  <cp:revision>3</cp:revision>
  <dcterms:created xsi:type="dcterms:W3CDTF">2026-09-25T03:11:38Z</dcterms:created>
  <dcterms:modified xsi:type="dcterms:W3CDTF">2026-09-26T03:25:14Z</dcterms:modified>
</cp:coreProperties>
</file>