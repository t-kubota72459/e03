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6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4541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4E79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ext 1"/>
          <p:cNvSpPr/>
          <p:nvPr/>
        </p:nvSpPr>
        <p:spPr>
          <a:xfrm>
            <a:off x="502920" y="6473952"/>
            <a:ext cx="5669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メカトロニクス実習 第8回（2nd turn）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372600" y="6473952"/>
            <a:ext cx="2286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AI外観検査システム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判別精度 ＝ 成績、ではありません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98755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今日の実験で見るのは「数字」だけではなく、そのプロセスです。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77240" y="1600200"/>
            <a:ext cx="4983480" cy="2697480"/>
          </a:xfrm>
          <a:prstGeom prst="roundRect">
            <a:avLst>
              <a:gd name="adj" fmla="val 2712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1143000" y="19202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判別精度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143000" y="251460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90%  /  100%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97280" y="34290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F636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大切な指標。でも、それだけではない。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080760" y="1508760"/>
            <a:ext cx="0" cy="3017520"/>
          </a:xfrm>
          <a:prstGeom prst="line">
            <a:avLst/>
          </a:prstGeom>
          <a:noFill/>
          <a:ln w="254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6537960" y="1554480"/>
            <a:ext cx="4846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この実習で大切にすること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565392" y="2176272"/>
            <a:ext cx="228600" cy="2286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6931152" y="2084832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どこで不安定になっているか考える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565392" y="2798064"/>
            <a:ext cx="228600" cy="2286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6931152" y="270662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確認方法を考える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565392" y="3419856"/>
            <a:ext cx="228600" cy="2286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6931152" y="3328416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改善案を1つ選ぶ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565392" y="4041648"/>
            <a:ext cx="228600" cy="2286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6931152" y="3950208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同じ条件で再実験する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65392" y="4663440"/>
            <a:ext cx="228600" cy="2286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Text 17"/>
          <p:cNvSpPr/>
          <p:nvPr/>
        </p:nvSpPr>
        <p:spPr>
          <a:xfrm>
            <a:off x="6931152" y="45720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結果から次の手立てを考える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51560" y="5162107"/>
            <a:ext cx="10058400" cy="960120"/>
          </a:xfrm>
          <a:prstGeom prst="roundRect">
            <a:avLst>
              <a:gd name="adj" fmla="val 7619"/>
            </a:avLst>
          </a:prstGeom>
          <a:solidFill>
            <a:srgbClr val="EAF2F8"/>
          </a:solidFill>
          <a:ln w="1270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1325880" y="5424944"/>
            <a:ext cx="9509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23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「AIだから当たる」ではなく、AIカメラを含む検査システム全体を理解する。</a:t>
            </a:r>
            <a:endParaRPr lang="en-US" sz="2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AIカメラ単体ではなく、システム全体を見る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98755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判定が不安定なときは、どこに原因があるかを切り分けます。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57607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IRセンサ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検査開始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947672" y="2450592"/>
            <a:ext cx="310896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Shape 5"/>
          <p:cNvSpPr/>
          <p:nvPr/>
        </p:nvSpPr>
        <p:spPr>
          <a:xfrm>
            <a:off x="233172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BE9DD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Text 6"/>
          <p:cNvSpPr/>
          <p:nvPr/>
        </p:nvSpPr>
        <p:spPr>
          <a:xfrm>
            <a:off x="240487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HUSKYLENS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推定ID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776472" y="2450592"/>
            <a:ext cx="402336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Shape 8"/>
          <p:cNvSpPr/>
          <p:nvPr/>
        </p:nvSpPr>
        <p:spPr>
          <a:xfrm>
            <a:off x="425196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Text 9"/>
          <p:cNvSpPr/>
          <p:nvPr/>
        </p:nvSpPr>
        <p:spPr>
          <a:xfrm>
            <a:off x="432511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M5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良否判定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696712" y="2450592"/>
            <a:ext cx="402336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Shape 11"/>
          <p:cNvSpPr/>
          <p:nvPr/>
        </p:nvSpPr>
        <p:spPr>
          <a:xfrm>
            <a:off x="617220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Text 12"/>
          <p:cNvSpPr/>
          <p:nvPr/>
        </p:nvSpPr>
        <p:spPr>
          <a:xfrm>
            <a:off x="624535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Relay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接点出力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16952" y="2450592"/>
            <a:ext cx="402336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809244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EAF5EC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816559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PLC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X00入力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9537192" y="2450592"/>
            <a:ext cx="402336" cy="0"/>
          </a:xfrm>
          <a:prstGeom prst="line">
            <a:avLst/>
          </a:prstGeom>
          <a:noFill/>
          <a:ln w="2794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9" name="Shape 17"/>
          <p:cNvSpPr/>
          <p:nvPr/>
        </p:nvSpPr>
        <p:spPr>
          <a:xfrm>
            <a:off x="10012680" y="1965960"/>
            <a:ext cx="14173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10085832" y="2011680"/>
            <a:ext cx="127101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FA設備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設備動作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94360" y="3337560"/>
            <a:ext cx="3200400" cy="1463040"/>
          </a:xfrm>
          <a:prstGeom prst="roundRect">
            <a:avLst>
              <a:gd name="adj" fmla="val 5000"/>
            </a:avLst>
          </a:prstGeom>
          <a:solidFill>
            <a:srgbClr val="FBE9DD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Text 20"/>
          <p:cNvSpPr/>
          <p:nvPr/>
        </p:nvSpPr>
        <p:spPr>
          <a:xfrm>
            <a:off x="758952" y="3483864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55A1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AIカメラの分類機能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58952" y="3867912"/>
            <a:ext cx="287121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誤分類・未認識は起こりうる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→ 学習状態やクラス間の違いを見る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3977640" y="33375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EAF2F8"/>
          </a:solidFill>
          <a:ln w="1270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5" name="Text 23"/>
          <p:cNvSpPr/>
          <p:nvPr/>
        </p:nvSpPr>
        <p:spPr>
          <a:xfrm>
            <a:off x="4142232" y="348386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撮像環境・タイミング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142232" y="3867912"/>
            <a:ext cx="3447288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背景・光・フォーカス・位置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IR反応時にワークが正しく見えているか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818120" y="3337560"/>
            <a:ext cx="3657600" cy="1463040"/>
          </a:xfrm>
          <a:prstGeom prst="roundRect">
            <a:avLst>
              <a:gd name="adj" fmla="val 5000"/>
            </a:avLst>
          </a:prstGeom>
          <a:solidFill>
            <a:srgbClr val="EAF5EC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8" name="Text 26"/>
          <p:cNvSpPr/>
          <p:nvPr/>
        </p:nvSpPr>
        <p:spPr>
          <a:xfrm>
            <a:off x="7982712" y="3483864"/>
            <a:ext cx="33284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FAとの連携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982712" y="3867912"/>
            <a:ext cx="3328416" cy="7132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M5 → Relay → PLC入力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配線・接点・X00の状態まで確認する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914400" y="5138928"/>
            <a:ext cx="103327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29"/>
          <p:cNvSpPr/>
          <p:nvPr/>
        </p:nvSpPr>
        <p:spPr>
          <a:xfrm>
            <a:off x="1143000" y="5231219"/>
            <a:ext cx="9875520" cy="4654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一連の動作が不安定なら、「</a:t>
            </a:r>
            <a:r>
              <a:rPr lang="en-US" sz="1900" b="1" dirty="0" err="1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AIの精度が悪い」で終わらせず</a:t>
            </a:r>
            <a:r>
              <a:rPr lang="en-US" sz="19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、</a:t>
            </a:r>
          </a:p>
          <a:p>
            <a:pPr marL="0" indent="0" algn="ctr">
              <a:buNone/>
            </a:pPr>
            <a:r>
              <a:rPr lang="en-US" sz="1900" b="1" dirty="0" err="1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入力</a:t>
            </a:r>
            <a:r>
              <a:rPr lang="en-US" sz="19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 → 推定 → 判断 → 出力を順に確認する。</a:t>
            </a:r>
            <a:endParaRPr lang="en-US" sz="19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用語を分けて考える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98755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「IDが合ったか」と「良品・不良品の判定が合ったか」は別です。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4173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実物側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669280" y="14173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システム側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31520" y="1874520"/>
            <a:ext cx="2057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7" name="Text 5"/>
          <p:cNvSpPr/>
          <p:nvPr/>
        </p:nvSpPr>
        <p:spPr>
          <a:xfrm>
            <a:off x="804672" y="1920240"/>
            <a:ext cx="19110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正解ID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852928" y="2203704"/>
            <a:ext cx="941832" cy="0"/>
          </a:xfrm>
          <a:prstGeom prst="line">
            <a:avLst/>
          </a:prstGeom>
          <a:noFill/>
          <a:ln w="25400">
            <a:solidFill>
              <a:srgbClr val="5F636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Shape 7"/>
          <p:cNvSpPr/>
          <p:nvPr/>
        </p:nvSpPr>
        <p:spPr>
          <a:xfrm>
            <a:off x="3840480" y="1783080"/>
            <a:ext cx="2057400" cy="841248"/>
          </a:xfrm>
          <a:prstGeom prst="roundRect">
            <a:avLst>
              <a:gd name="adj" fmla="val 8696"/>
            </a:avLst>
          </a:prstGeom>
          <a:solidFill>
            <a:srgbClr val="EAF2F8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Text 8"/>
          <p:cNvSpPr/>
          <p:nvPr/>
        </p:nvSpPr>
        <p:spPr>
          <a:xfrm>
            <a:off x="3913632" y="1828800"/>
            <a:ext cx="191109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実物の良否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良品 / 不良品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55080" y="1874520"/>
            <a:ext cx="205740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Text 10"/>
          <p:cNvSpPr/>
          <p:nvPr/>
        </p:nvSpPr>
        <p:spPr>
          <a:xfrm>
            <a:off x="6428232" y="1920240"/>
            <a:ext cx="1911096" cy="5669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推定ID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476488" y="2203704"/>
            <a:ext cx="941832" cy="0"/>
          </a:xfrm>
          <a:prstGeom prst="line">
            <a:avLst/>
          </a:prstGeom>
          <a:noFill/>
          <a:ln w="25400">
            <a:solidFill>
              <a:srgbClr val="5F6368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4" name="Shape 12"/>
          <p:cNvSpPr/>
          <p:nvPr/>
        </p:nvSpPr>
        <p:spPr>
          <a:xfrm>
            <a:off x="9464040" y="1783080"/>
            <a:ext cx="2057400" cy="841248"/>
          </a:xfrm>
          <a:prstGeom prst="roundRect">
            <a:avLst>
              <a:gd name="adj" fmla="val 8696"/>
            </a:avLst>
          </a:prstGeom>
          <a:solidFill>
            <a:srgbClr val="EAF5EC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5" name="Text 13"/>
          <p:cNvSpPr/>
          <p:nvPr/>
        </p:nvSpPr>
        <p:spPr>
          <a:xfrm>
            <a:off x="9537192" y="1828800"/>
            <a:ext cx="1911096" cy="7498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M5の判定結果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OK / NG / RETRY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77240" y="2971800"/>
            <a:ext cx="35204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960120" y="318211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ID一致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2057400" y="3191256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正解ID と 推定ID を比較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498848" y="29718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Text 18"/>
          <p:cNvSpPr/>
          <p:nvPr/>
        </p:nvSpPr>
        <p:spPr>
          <a:xfrm>
            <a:off x="4681728" y="3182112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良否判定の一致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55664" y="3191256"/>
            <a:ext cx="1783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実物の良否 と M5判定 を比較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668512" y="2971800"/>
            <a:ext cx="26060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3" name="Text 21"/>
          <p:cNvSpPr/>
          <p:nvPr/>
        </p:nvSpPr>
        <p:spPr>
          <a:xfrm>
            <a:off x="8869680" y="31821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B3261E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見逃し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9802368" y="3072384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IR反応なし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または ID=0 → RETRY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868680" y="434340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EAF5EC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24"/>
          <p:cNvSpPr/>
          <p:nvPr/>
        </p:nvSpPr>
        <p:spPr>
          <a:xfrm>
            <a:off x="1078992" y="4507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 A  正解ID 3 → 推定ID 4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1078992" y="49011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ID一致：×　良否判定：○　見逃し：なし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4434840" y="4343400"/>
            <a:ext cx="3429000" cy="1188720"/>
          </a:xfrm>
          <a:prstGeom prst="roundRect">
            <a:avLst>
              <a:gd name="adj" fmla="val 6154"/>
            </a:avLst>
          </a:prstGeom>
          <a:solidFill>
            <a:srgbClr val="FCE8E6"/>
          </a:solidFill>
          <a:ln w="12700">
            <a:solidFill>
              <a:srgbClr val="B3261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9" name="Text 27"/>
          <p:cNvSpPr/>
          <p:nvPr/>
        </p:nvSpPr>
        <p:spPr>
          <a:xfrm>
            <a:off x="4645152" y="450799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 B  正解ID 3 → 推定ID 1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45152" y="490118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ID一致：×　良否判定：×　見逃し：なし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8001000" y="4343400"/>
            <a:ext cx="3291840" cy="1188720"/>
          </a:xfrm>
          <a:prstGeom prst="roundRect">
            <a:avLst>
              <a:gd name="adj" fmla="val 6154"/>
            </a:avLst>
          </a:prstGeom>
          <a:solidFill>
            <a:srgbClr val="FBE9DD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Text 30"/>
          <p:cNvSpPr/>
          <p:nvPr/>
        </p:nvSpPr>
        <p:spPr>
          <a:xfrm>
            <a:off x="8211312" y="4507992"/>
            <a:ext cx="2880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 C  IR反応なし / ID=0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211312" y="4901184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見逃し：あり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14400" y="5833872"/>
            <a:ext cx="10332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例Aのように、ID一致率が低くても良否判定一致率が高い場合があります。</a:t>
            </a:r>
            <a:endParaRPr lang="en-US" sz="180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438912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改善の基本：一度に変えるのは1つだけ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12648" y="987552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F6368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「何を変えたから結果が変わったのか」を説明できる実験にします。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965960"/>
            <a:ext cx="20574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Text 3"/>
          <p:cNvSpPr/>
          <p:nvPr/>
        </p:nvSpPr>
        <p:spPr>
          <a:xfrm>
            <a:off x="649224" y="2130552"/>
            <a:ext cx="1764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① 測定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9224" y="2660904"/>
            <a:ext cx="1764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 err="1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まず現状を数値で</a:t>
            </a:r>
            <a:endParaRPr lang="en-US" sz="1450" dirty="0">
              <a:solidFill>
                <a:srgbClr val="202124"/>
              </a:solidFill>
              <a:latin typeface="Noto Sans CJK JP" pitchFamily="34" charset="0"/>
              <a:ea typeface="Noto Sans CJK JP" pitchFamily="34" charset="-122"/>
              <a:cs typeface="Noto Sans CJK JP" pitchFamily="34" charset="-120"/>
            </a:endParaRPr>
          </a:p>
          <a:p>
            <a:pPr marL="0" indent="0" algn="ctr">
              <a:buNone/>
            </a:pPr>
            <a:r>
              <a:rPr lang="en-US" sz="1450" dirty="0" err="1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確認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2587752" y="2715768"/>
            <a:ext cx="192024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8" name="Shape 6"/>
          <p:cNvSpPr/>
          <p:nvPr/>
        </p:nvSpPr>
        <p:spPr>
          <a:xfrm>
            <a:off x="2816352" y="1965960"/>
            <a:ext cx="20574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9" name="Text 7"/>
          <p:cNvSpPr/>
          <p:nvPr/>
        </p:nvSpPr>
        <p:spPr>
          <a:xfrm>
            <a:off x="2962656" y="2130552"/>
            <a:ext cx="1764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② 問題を絞る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2962656" y="2660904"/>
            <a:ext cx="1764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どんな誤りが多いかを見る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4901184" y="2715768"/>
            <a:ext cx="192024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Shape 10"/>
          <p:cNvSpPr/>
          <p:nvPr/>
        </p:nvSpPr>
        <p:spPr>
          <a:xfrm>
            <a:off x="5129784" y="1965960"/>
            <a:ext cx="2057400" cy="1481328"/>
          </a:xfrm>
          <a:prstGeom prst="roundRect">
            <a:avLst>
              <a:gd name="adj" fmla="val 4938"/>
            </a:avLst>
          </a:prstGeom>
          <a:solidFill>
            <a:srgbClr val="FBE9DD"/>
          </a:solidFill>
          <a:ln w="12700">
            <a:solidFill>
              <a:srgbClr val="C55A11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3" name="Text 11"/>
          <p:cNvSpPr/>
          <p:nvPr/>
        </p:nvSpPr>
        <p:spPr>
          <a:xfrm>
            <a:off x="5209103" y="2130552"/>
            <a:ext cx="1831777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55A11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③ 1項目だけ変更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76088" y="2660904"/>
            <a:ext cx="1764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再学習・位置・背景など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214616" y="2715768"/>
            <a:ext cx="192024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6" name="Shape 14"/>
          <p:cNvSpPr/>
          <p:nvPr/>
        </p:nvSpPr>
        <p:spPr>
          <a:xfrm>
            <a:off x="7443216" y="1965960"/>
            <a:ext cx="20574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7" name="Text 15"/>
          <p:cNvSpPr/>
          <p:nvPr/>
        </p:nvSpPr>
        <p:spPr>
          <a:xfrm>
            <a:off x="7589520" y="2130552"/>
            <a:ext cx="1764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④ 再測定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7589520" y="2660904"/>
            <a:ext cx="1764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同じ20回で比較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9528048" y="2715768"/>
            <a:ext cx="192024" cy="0"/>
          </a:xfrm>
          <a:prstGeom prst="line">
            <a:avLst/>
          </a:prstGeom>
          <a:noFill/>
          <a:ln w="25400">
            <a:solidFill>
              <a:srgbClr val="1F4E79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0" name="Shape 18"/>
          <p:cNvSpPr/>
          <p:nvPr/>
        </p:nvSpPr>
        <p:spPr>
          <a:xfrm>
            <a:off x="9756648" y="1965960"/>
            <a:ext cx="2057400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12700">
            <a:solidFill>
              <a:srgbClr val="D5D9D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Text 19"/>
          <p:cNvSpPr/>
          <p:nvPr/>
        </p:nvSpPr>
        <p:spPr>
          <a:xfrm>
            <a:off x="9902952" y="2130552"/>
            <a:ext cx="1764792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⑤ 比較・考察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902952" y="2660904"/>
            <a:ext cx="1764792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4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次の手立てを考える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731520" y="397764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EAF2F8"/>
          </a:solidFill>
          <a:ln w="12700">
            <a:solidFill>
              <a:srgbClr val="2F75B5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4" name="Text 22"/>
          <p:cNvSpPr/>
          <p:nvPr/>
        </p:nvSpPr>
        <p:spPr>
          <a:xfrm>
            <a:off x="891008" y="4080776"/>
            <a:ext cx="22721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F75B5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打てる手立ての例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60120" y="449884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再学習 / カメラ位置 / 背景 / 照明 / フォーカス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IRセンサ位置・タイミング / 配線 / Relay・PLC確認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263640" y="3977640"/>
            <a:ext cx="5212080" cy="1234440"/>
          </a:xfrm>
          <a:prstGeom prst="roundRect">
            <a:avLst>
              <a:gd name="adj" fmla="val 5926"/>
            </a:avLst>
          </a:prstGeom>
          <a:solidFill>
            <a:srgbClr val="EAF5EC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7" name="Text 25"/>
          <p:cNvSpPr/>
          <p:nvPr/>
        </p:nvSpPr>
        <p:spPr>
          <a:xfrm>
            <a:off x="6449710" y="408077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結果が悪化しても「失敗」とは限らない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492240" y="4526280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202124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変更と結果の関係が分かれば、それも次の改善につながる実験結果です。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1005840" y="5486400"/>
            <a:ext cx="10104120" cy="621792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1F4E79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Text 28"/>
          <p:cNvSpPr/>
          <p:nvPr/>
        </p:nvSpPr>
        <p:spPr>
          <a:xfrm>
            <a:off x="1234440" y="5550195"/>
            <a:ext cx="9646920" cy="4944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今日の目標は「100%を出すこと」ではなく、</a:t>
            </a:r>
          </a:p>
          <a:p>
            <a:pPr marL="0" indent="0" algn="ctr">
              <a:buNone/>
            </a:pPr>
            <a:r>
              <a:rPr lang="en-US" sz="1900" b="1" dirty="0" err="1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システムを観察し、根拠をもって改善すること</a:t>
            </a:r>
            <a:r>
              <a:rPr lang="en-US" sz="1900" b="1" dirty="0">
                <a:solidFill>
                  <a:srgbClr val="1F4E79"/>
                </a:solidFill>
                <a:latin typeface="Noto Sans CJK JP" pitchFamily="34" charset="0"/>
                <a:ea typeface="Noto Sans CJK JP" pitchFamily="34" charset="-122"/>
                <a:cs typeface="Noto Sans CJK JP" pitchFamily="34" charset="-120"/>
              </a:rPr>
              <a:t>。</a:t>
            </a:r>
            <a:endParaRPr lang="en-US" sz="1900" dirty="0"/>
          </a:p>
        </p:txBody>
      </p:sp>
      <p:sp>
        <p:nvSpPr>
          <p:cNvPr id="31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722608" y="64282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  <a:latin typeface="Noto Sans CJK JP"/>
                <a:ea typeface="Noto Sans CJK JP"/>
                <a:cs typeface="Noto Sans CJK JP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JP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JP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305</Words>
  <Application>Microsoft Office PowerPoint</Application>
  <PresentationFormat>ワイド画面</PresentationFormat>
  <Paragraphs>89</Paragraphs>
  <Slides>4</Slides>
  <Notes>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7" baseType="lpstr">
      <vt:lpstr>Noto Sans CJK JP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広島県立技術短大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AI外観検査 最終回 冒頭説明</dc:title>
  <dc:subject>メカトロニクス実習 第8回 2nd turn 冒頭説明</dc:subject>
  <dc:creator>OpenAI</dc:creator>
  <cp:lastModifiedBy>久保田 貴也</cp:lastModifiedBy>
  <cp:revision>2</cp:revision>
  <dcterms:created xsi:type="dcterms:W3CDTF">2026-09-25T03:11:38Z</dcterms:created>
  <dcterms:modified xsi:type="dcterms:W3CDTF">2026-09-25T03:16:40Z</dcterms:modified>
</cp:coreProperties>
</file>